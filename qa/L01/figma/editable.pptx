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Прочитать обращение о личном кабинете. Сотрудник понимает проблему, но программе нужно задать конкретное действие.
- Предложить аудитории выбрать результат: отдел, полезные сведения или ответ.
- Переход: одно сообщение допускает несколько задач.
Фрагмент лекции: В электронную приёмную пришло сообщение: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Вход в трёх вариантах один: сообщение о личном кабинете. Меняется полезное действие программы.
- Выбор отдела можно оценить по размеченным категориям; подготовка ответа требует дополнительных правил.
- Сравним, что возвращают программы в разных NLP-задачах.
Фрагмент лекции: Один вариант — выбрать отдел.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L01-S02
- Программа может вернуть метку, фрагмент текста, список документов или новый ответ.
- Для извлечения важны границы фрагмента, для поиска — порядок результатов.
- Программа задаёт уточняющий вопрос: сведений в сообщении пока недостаточно для выбора инструкции.
- Теперь посмотрим, почему отдельного слова часто недостаточно.
Фрагмент лекции: Сравним эти выходы на одном примере.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сочетании с комнатой ключ связан с замком; в сочетании с доступом — с сервисом.
- Общее слово не содержит всех сведений, которые дают соседние слова.
- Далее посмотрим, как сочетание слов задаёт тон целой фразы.
Фрагмент лекции: Рассмотрим слово «ключ».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Положительное слово употреблено рядом с описанием повторного сбоя.
- Здесь «отлично», скорее всего, выражает иронию и раздражение.
- Теперь сравним предложения, где меняются роли участников, хотя тема остаётся общей.
Фрагмент лекции: Теперь фраза «Отлично, портал снова не работает».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первом предложении консультирует преподаватель, во втором — студент.
- Если привести слова к леммам и не учитывать их порядок, наборы совпадут. Общая тема сохранится, но станет непонятно, кто кого консультирует.
- Упрощение оценивается относительно задачи. Перейдём к корпусу, в котором хранятся сообщения.
Фрагмент лекции: Русский язык даёт наглядный пример такого упрощения.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Текст связан с конкретной записью, категорией, исходной ситуацией и частью выборки.
- id обозначает отдельную запись, а group_id объединяет варианты одного исходного обращения.
- Поэтому число строк ещё не равно числу независимых ситуаций.
Фрагмент лекции: В наших лабораторных корпус обращений устроен как таблица.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У каждой ситуации пять записей: основа и варианты с приветствием, просьбой, благодарностью или запросом консультации. Добавленная формула вежливости не делает ситуацию независимой.
- При проверке на новых ситуациях все варианты группы остаются вместе.
- Числа относятся к авторскому учебному корпусу. Дальше посмотрим его возможные дефекты.
Фрагмент лекции: В учебном корпусе 600 строк образованы из 120 базовых обращений, по пять вариантов на каждое.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После удаления лишнего пробела запись может совпасть с другой. В пустой строке нет сообщения. У вопроса о продлении книги стоит метка «Общежитие» — её нужно проверить.
- Одинаковые сообщения от разных людей не обязательно лишние: они могут свидетельствовать о массовом сбое.
- После автоматической проверки нужно разобраться, что делать с найденной записью. Для проверки меток понадобятся правила разметки.
Фрагмент лекции: Теперь посмотрим на четыре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В сообщении присутствуют предмет платежа и возможная техническая проблема.
- Правила разметки определяют, в какой отдел направить обращение. Одного слова «общежитие» для выбора недостаточно.
- Показать роль уточнения об ошибке 403. Затем разобрать конфликт одинаковых текстов.
Фрагмент лекции: Вернёмся к письму «Не могу оплатить общежитие через портал».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Если каждому обращению назначают одну категорию, одинаковые сообщения с разными метками нужно проверить.
- Если удалить одну из строк, это ещё не значит, что у оставшейся строки верная метка.
- Прочитать сообщение и инструкцию. Теперь перейдём к единицам самого текста.
Фрагмент лекции: В таблице могут встретиться одинаковые тексты с разными метками.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split оставляет дефис и пунктуацию при словах. Регулярное выражение выделяет их отдельно и даёт восемь элементов.
- Число токенов нужно читать вместе с правилом разбиения. Дальше пример адреса.
Фрагмент лекции: Метод `split()` разделит её по пробелам и вернёт четыре элемента: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Человек видит один адрес; данное регулярное выражение даёт пять элементов.
- Для извлечения адреса целиком нужно другое правило или объединение частей.
- Один адрес может состоять из нескольких токенов. Далее сравним число вхождений и число разных токенов.
Фрагмент лекции: Рассмотрим адрес `help@sever.example`.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Список сохраняет два появления книги. Множество типов содержит книгу один раз.
- Получаются три вхождения и два типа. Эти величины отвечают на разные вопросы.
- Далее выберем, какие различия записи можно нормализовать.
Фрагмент лекции: В строке «книга книга журнал» три вхождения, но только два разных элемента.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Пробелы по краям удаляем, а несколько пробелов между словами заменяем одним. Все слова, включая «не», сохраняем.
- Это удобно в обращениях, но пробелы в коде или таблице могут иметь структурный смысл.
- Операция с пробелами отличается от Unicode NFC, к которой переходим далее.
Фрагмент лекции: Нормализация приводит разные записи к выбранному общему виду.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Буква «й» может состоять из U+0439 либо из U+0438 и комбинируемого U+0306. NFC согласует канонически эквивалентные записи.
- NFC не делает латинскую a кириллической а и не сжимает пробелы.
- Нормализация должна сохранять нужное различие. Особенно заметна потеря отрицания.
Фрагмент лекции: Unicode даёт другой пример внешне одинаковых записей.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Два противоположных отзыва после удаления я и не превращаются в одну строку.
- По такому входу модель уже не сможет восстановить различие, потерянное до её вызова.
- Следующий пример касается важного числа.
Фрагмент лекции: Самые наглядные потери возникают при удалении служебных слов.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Общая тема технической проблемы сохранилась, но номер мог определять подходящую инструкцию.
- Назвать задачу, для которой достаточно общей темы, и задачу, где 403 необходимо.
- Далее проверим стабильность самой функции обработки.
Фрагмент лекции: После удаления цифр «Ошибка 403» превращается в «Ошибка».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Второе применение нормализации не должно ещё раз менять уже подготовленную строку.
- Стабильность функции не доказывает сохранение смысла: удаление отрицания тоже может быть идемпотентным.
- Затем перейдём от записи слова к его форме.
Фрагмент лекции: Это называют идемпотентностью: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Все три формы приводятся к лемме «книга». Поэтому запрос «книга» может найти документ со словом «книгой».
- Стемминг оставляет основу, которая не обязана быть словарным словом; его результат не называют леммой автоматически.
- Но одной формы иногда недостаточно для выбора леммы.
Фрагмент лекции: «Книга», «книги», «книгой» — разные формы одного слова.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 первом контексте подходит сталь, во втором — стать.
- Словарь может перечислить оба варианта; выбрать помогает окружение.
- Преобразования нужно собрать в последовательность, сохранив возможность их проверить.
Фрагмент лекции: В сочетании «образцы стали» речь идёт о материале,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L01-S09
- Оригинал нужен для сравнения с нормализованной строкой и токенами.
- Проверки на коротких примерах помогают связать неожиданное изменение с конкретным шагом.
- Завершить лекцию новым примером, на котором аудитория сама выберет сохраняемые сведения.
Фрагмент лекции: Исходный текст оставляем в таблице.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L01-S10
- Исходная строка содержит крайние и повторные пробелы, отрицание и дату.
- Убираем пробелы по краям и заменяем повторные пробелы одним. «Не» и «12 октября» сохраняем. Для извлечения даты нужны число и месяц.
- На следующей лекции из подготовленного корпуса получим признаки и обучим классификатор.
Фрагмент лекции: Проверим понимание на новой строке: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6763" y="1488034"/>
            <a:ext cx="56800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 компьютер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611190" y="2338934"/>
            <a:ext cx="70707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работает с текстом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5077" y="3814070"/>
            <a:ext cx="5450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сохранить, когда превращаешь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90764" y="4239520"/>
            <a:ext cx="33127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 в данные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31949" y="501663"/>
            <a:ext cx="83153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Сначала определим результат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50617"/>
            <a:ext cx="1965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 сообщение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24137"/>
            <a:ext cx="32359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не могу войти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544837"/>
            <a:ext cx="361759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личный кабинет»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874000" y="2055317"/>
            <a:ext cx="17043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Выбрать отдел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74000" y="2425700"/>
            <a:ext cx="838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8026" y="24670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74000" y="3223717"/>
            <a:ext cx="20631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Извлечь сведения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74000" y="3572770"/>
            <a:ext cx="25641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74000" y="4233367"/>
            <a:ext cx="2102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ответ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74000" y="4583259"/>
            <a:ext cx="23221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«Какой кабинет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74000" y="4976959"/>
            <a:ext cx="260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используете?»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 flipV="1">
            <a:off x="6299200" y="2527300"/>
            <a:ext cx="1225550" cy="965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7465314" y="2527300"/>
            <a:ext cx="59436" cy="11954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7394575" y="2527300"/>
            <a:ext cx="130175" cy="29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299200" y="3492500"/>
            <a:ext cx="1225550" cy="4064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7392226" y="3898900"/>
            <a:ext cx="132524" cy="1626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7428230" y="3806679"/>
            <a:ext cx="96520" cy="9222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99200" y="3492500"/>
            <a:ext cx="1225550" cy="170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407974" y="5135937"/>
            <a:ext cx="116777" cy="6471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H="1" flipV="1">
            <a:off x="7500874" y="5069307"/>
            <a:ext cx="23876" cy="13134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8856" y="501663"/>
            <a:ext cx="77793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NLP-задач разные выходы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3065" y="1909070"/>
            <a:ext cx="54121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войти в личный кабинет»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969717"/>
            <a:ext cx="1774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Классификация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3600"/>
            <a:ext cx="1016000" cy="6159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3006" y="3444081"/>
            <a:ext cx="560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0000" y="2969717"/>
            <a:ext cx="13950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Извлечение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0000" y="3380581"/>
            <a:ext cx="29152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0000" y="3994918"/>
            <a:ext cx="7258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сервис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620717"/>
            <a:ext cx="756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034109"/>
            <a:ext cx="3878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 Восстановление доступа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5550668"/>
            <a:ext cx="2783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остальных документов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0000" y="4620717"/>
            <a:ext cx="12503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Генерация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0000" y="5034109"/>
            <a:ext cx="42246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«Что появляется при входе?»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4932" y="501663"/>
            <a:ext cx="8062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Контекст выбирает значение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33531" y="1854822"/>
            <a:ext cx="20542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090661" y="3293167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комнаты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54304" y="3293167"/>
            <a:ext cx="357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доступа к сервису</a:t>
            </a:r>
            <a:endParaRPr lang="en-US" sz="3600" dirty="0"/>
          </a:p>
        </p:txBody>
      </p:sp>
      <p:pic>
        <p:nvPicPr>
          <p:cNvPr id="10" name="Image 0" descr="D:\AIS\assets\figma\L01\slide-04-path-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34735" y="5378450"/>
            <a:ext cx="931329" cy="0"/>
          </a:xfrm>
          <a:prstGeom prst="line">
            <a:avLst/>
          </a:prstGeom>
          <a:noFill/>
          <a:ln w="93134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3014133" y="4912783"/>
            <a:ext cx="93134" cy="93134"/>
          </a:xfrm>
          <a:prstGeom prst="ellipse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3" name="Image 1" descr="D:\AIS\assets\figma\L01\slide-04-path-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 2" descr="D:\AIS\assets\figma\L01\slide-04-path-1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flipH="1">
            <a:off x="374650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 flipH="1">
            <a:off x="3746500" y="3201251"/>
            <a:ext cx="10558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746500" y="3282950"/>
            <a:ext cx="130099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682625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 flipV="1">
            <a:off x="8315388" y="3282950"/>
            <a:ext cx="130112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 flipH="1" flipV="1">
            <a:off x="8339899" y="3201251"/>
            <a:ext cx="10560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6"/>
          <p:cNvSpPr/>
          <p:nvPr/>
        </p:nvSpPr>
        <p:spPr>
          <a:xfrm>
            <a:off x="10522585" y="6022257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Lucide · ISC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3129" y="501663"/>
            <a:ext cx="777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Одно слово может обмануть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7000" y="24031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9611" y="2403126"/>
            <a:ext cx="247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97000" y="3101626"/>
            <a:ext cx="351599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 снова 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824343" y="31016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696517" y="2403126"/>
            <a:ext cx="227457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Отлично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813770" y="3101626"/>
            <a:ext cx="311086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работает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397000" y="4097166"/>
            <a:ext cx="34175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Тон задаёт сочетание слов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4540" y="501663"/>
            <a:ext cx="68281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Набор лемм теряет роли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6963" y="207883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28327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88088" y="2078831"/>
            <a:ext cx="16440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3219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897981"/>
            <a:ext cx="1488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4344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преподавателя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096000" y="3752850"/>
            <a:ext cx="0" cy="374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3885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609600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953800" y="4396454"/>
            <a:ext cx="2390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Леммы без порядка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883150"/>
            <a:ext cx="34163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66005" y="4926159"/>
            <a:ext cx="22313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33900" y="4883150"/>
            <a:ext cx="3873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9634" y="4926159"/>
            <a:ext cx="24695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консультировать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610600" y="4883150"/>
            <a:ext cx="2667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6415" y="4926159"/>
            <a:ext cx="11709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59709" y="501663"/>
            <a:ext cx="57905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Корпус хранит связи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6217"/>
            <a:ext cx="3379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842317"/>
            <a:ext cx="347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портал»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632200"/>
            <a:ext cx="965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1945" y="36735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94500" y="2071516"/>
            <a:ext cx="330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572500" y="2071516"/>
            <a:ext cx="935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794500" y="2547766"/>
            <a:ext cx="5848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72500" y="2547766"/>
            <a:ext cx="1513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94500" y="3024016"/>
            <a:ext cx="6934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572500" y="3024016"/>
            <a:ext cx="1340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794500" y="3500266"/>
            <a:ext cx="1188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group_id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572500" y="3500266"/>
            <a:ext cx="24491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ситуация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794500" y="3976516"/>
            <a:ext cx="6197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572500" y="3976516"/>
            <a:ext cx="19094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часть выборки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08053" y="501663"/>
            <a:ext cx="72859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 строк — 120 ситуаций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7453" y="2001869"/>
            <a:ext cx="282384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930489" y="3694259"/>
            <a:ext cx="23031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строк в корпусе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25055" y="2001869"/>
            <a:ext cx="230759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120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7172579" y="3694259"/>
            <a:ext cx="28238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исходных ситуаций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48075" y="4873028"/>
            <a:ext cx="5014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ситуация — пять формулировок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210" y="5460924"/>
            <a:ext cx="850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009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597" y="5460924"/>
            <a:ext cx="13989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Приветствие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105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4067" y="5460924"/>
            <a:ext cx="96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Просьба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200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5088" y="5460924"/>
            <a:ext cx="16224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Благодарность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296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7040" y="5460924"/>
            <a:ext cx="15208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Консультация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47874" y="501663"/>
            <a:ext cx="76060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Ошибки видны до обучения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31104"/>
            <a:ext cx="95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Пробел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5400" y="2227409"/>
            <a:ext cx="4810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 учебный портал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095" y="2227409"/>
            <a:ext cx="2705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71703" y="2227409"/>
            <a:ext cx="1898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67800" y="223142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942304"/>
            <a:ext cx="9759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Пустота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5400" y="2938609"/>
            <a:ext cx="6642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 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67800" y="2942628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653504"/>
            <a:ext cx="817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Метка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65400" y="3649809"/>
            <a:ext cx="47066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67800" y="3653828"/>
            <a:ext cx="1655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17888" y="566380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56808" y="501663"/>
            <a:ext cx="64128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Метка следует правилу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73298" y="2099367"/>
            <a:ext cx="38220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оплатить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85106" y="2645467"/>
            <a:ext cx="13074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72465" y="2645467"/>
            <a:ext cx="335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93865" y="2099367"/>
            <a:ext cx="243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91955" y="2645467"/>
            <a:ext cx="148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258767"/>
            <a:ext cx="2160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чём обращение?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682331"/>
            <a:ext cx="34359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 общежития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4258767"/>
            <a:ext cx="2378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именно мешает?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682331"/>
            <a:ext cx="21888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Сбой сайта?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2662" y="501663"/>
            <a:ext cx="93757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Конфликт меток требует решения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13604"/>
            <a:ext cx="3582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категория на обращение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8881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166100" y="2888132"/>
            <a:ext cx="19970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7263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66100" y="3726332"/>
            <a:ext cx="20332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250927" y="5364309"/>
            <a:ext cx="57924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Сверить сообщение и правила разметки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00707" y="501663"/>
            <a:ext cx="8155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Границы токена задаёт метод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597" y="1920081"/>
            <a:ext cx="59429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 вход не работает!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937967"/>
            <a:ext cx="17887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split() · 4 токена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9950"/>
            <a:ext cx="3746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2564" y="3452959"/>
            <a:ext cx="2254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13300" y="3409950"/>
            <a:ext cx="1778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0165" y="3452959"/>
            <a:ext cx="760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43700" y="3409950"/>
            <a:ext cx="1143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4639" y="345295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39100" y="3409950"/>
            <a:ext cx="3238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5852" y="3452959"/>
            <a:ext cx="1468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работает!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" y="4442917"/>
            <a:ext cx="26181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\w+|[^\w\s] · 8 токенов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4908550"/>
            <a:ext cx="952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8603" y="495557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9812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0220" y="4955578"/>
            <a:ext cx="1949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667000" y="4908550"/>
            <a:ext cx="2857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5894" y="4955578"/>
            <a:ext cx="157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6388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3770" y="495557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24600" y="4908550"/>
            <a:ext cx="1460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80" y="4955578"/>
            <a:ext cx="710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899400" y="4908550"/>
            <a:ext cx="762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2920" y="4955578"/>
            <a:ext cx="41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775700" y="4908550"/>
            <a:ext cx="1968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9687" y="4955578"/>
            <a:ext cx="126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858500" y="4908550"/>
            <a:ext cx="381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99280" y="4955578"/>
            <a:ext cx="20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51049" y="501663"/>
            <a:ext cx="67894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Адрес распался на части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8991" y="2074736"/>
            <a:ext cx="5871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help@sever.example</a:t>
            </a:r>
            <a:endParaRPr lang="en-US" sz="5300" dirty="0"/>
          </a:p>
        </p:txBody>
      </p:sp>
      <p:sp>
        <p:nvSpPr>
          <p:cNvPr id="8" name="Shape 6"/>
          <p:cNvSpPr/>
          <p:nvPr/>
        </p:nvSpPr>
        <p:spPr>
          <a:xfrm>
            <a:off x="6096000" y="3302000"/>
            <a:ext cx="0" cy="43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03885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609600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4400" y="4127500"/>
            <a:ext cx="18415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2500" y="4165975"/>
            <a:ext cx="8464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3009900" y="4127500"/>
            <a:ext cx="889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6948" y="4165975"/>
            <a:ext cx="47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4152900" y="4127500"/>
            <a:ext cx="2413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876" y="4165975"/>
            <a:ext cx="101727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6819900" y="4127500"/>
            <a:ext cx="635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4378" y="4165975"/>
            <a:ext cx="2076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7708900" y="4127500"/>
            <a:ext cx="35687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4367" y="4165975"/>
            <a:ext cx="15513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182031" y="5398916"/>
            <a:ext cx="7959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адрес для человека — пять элементов для этого правила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5387" y="501663"/>
            <a:ext cx="83235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 не расширяет словарь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71560" y="1900904"/>
            <a:ext cx="1558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вхождения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48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6355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59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83566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6528" y="253667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374900" y="3498850"/>
            <a:ext cx="10795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323952" y="4302328"/>
            <a:ext cx="130448" cy="283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3393713" y="4211790"/>
            <a:ext cx="60687" cy="11891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4165600" y="3498850"/>
            <a:ext cx="19304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4165600" y="4230472"/>
            <a:ext cx="88182" cy="10022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165600" y="4330700"/>
            <a:ext cx="133420" cy="473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8509000" y="3498850"/>
            <a:ext cx="13081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8509000" y="4217734"/>
            <a:ext cx="71120" cy="11296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8509000" y="4314184"/>
            <a:ext cx="132461" cy="165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095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2973" y="46766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6921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8428" y="467662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068087" y="5710066"/>
            <a:ext cx="2155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типа в словаре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14735" y="501663"/>
            <a:ext cx="86690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Какие различия можно убрать?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25167"/>
            <a:ext cx="19183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запись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05188" y="2580284"/>
            <a:ext cx="358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38625" y="2580284"/>
            <a:ext cx="46558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··отменяйте·запись!··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62166" y="25802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096000" y="3517900"/>
            <a:ext cx="0" cy="450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373067"/>
            <a:ext cx="2678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сжатия пробелов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02868" y="4828184"/>
            <a:ext cx="427101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·отменяйте·запись!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726409" y="48281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517888" y="586065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63056" y="501663"/>
            <a:ext cx="638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вид — две записи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26264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9100" dirty="0"/>
          </a:p>
        </p:txBody>
      </p:sp>
      <p:sp>
        <p:nvSpPr>
          <p:cNvPr id="8" name="Text 6"/>
          <p:cNvSpPr/>
          <p:nvPr/>
        </p:nvSpPr>
        <p:spPr>
          <a:xfrm>
            <a:off x="2737860" y="3405016"/>
            <a:ext cx="10261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U+0439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17458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й</a:t>
            </a:r>
            <a:endParaRPr lang="en-US" sz="9100" dirty="0"/>
          </a:p>
        </p:txBody>
      </p:sp>
      <p:sp>
        <p:nvSpPr>
          <p:cNvPr id="10" name="Text 8"/>
          <p:cNvSpPr/>
          <p:nvPr/>
        </p:nvSpPr>
        <p:spPr>
          <a:xfrm>
            <a:off x="7927594" y="3405016"/>
            <a:ext cx="22282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U+0438 + U+0306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320040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5413934" y="4699000"/>
            <a:ext cx="129616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5436699" y="4618965"/>
            <a:ext cx="106851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664845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648450" y="4618965"/>
            <a:ext cx="106870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648450" y="4699000"/>
            <a:ext cx="129604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825134" y="4684859"/>
            <a:ext cx="6457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NFC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78100" y="5155838"/>
            <a:ext cx="537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5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8235" y="501663"/>
            <a:ext cx="77812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Удаление «не» меняет смысл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1680" y="2052587"/>
            <a:ext cx="56483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доволен работой портала»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056109" y="2941587"/>
            <a:ext cx="660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68566" y="2941587"/>
            <a:ext cx="51873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доволен работой портала»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5258" y="2941587"/>
            <a:ext cx="55435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096000" y="3771900"/>
            <a:ext cx="0" cy="3937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981537" y="4440904"/>
            <a:ext cx="23514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«я» и «не»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42640" y="4936979"/>
            <a:ext cx="542734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доволен работой портала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13471" y="501663"/>
            <a:ext cx="8097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Почему важен номер ошибки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76281" y="2146198"/>
            <a:ext cx="3238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002590" y="2146198"/>
            <a:ext cx="141414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403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202136" y="3570954"/>
            <a:ext cx="1911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цифры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0" y="4146550"/>
            <a:ext cx="0" cy="4445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3885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609600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630661" y="4933848"/>
            <a:ext cx="304355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</a:t>
            </a:r>
            <a:endParaRPr lang="en-US" sz="6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56645" y="501663"/>
            <a:ext cx="89973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Повторная обработка стабильна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6244" y="1939004"/>
            <a:ext cx="250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 — сжатие пробелов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01008" y="2664600"/>
            <a:ext cx="43053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f(f(x)) = f(x)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2118557" y="4450112"/>
            <a:ext cx="5734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7634" y="4869009"/>
            <a:ext cx="2228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··Ошибка··403··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40152" y="4450112"/>
            <a:ext cx="81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47284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95397" y="4450112"/>
            <a:ext cx="20046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ещё одного 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93759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0449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2926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2926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914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391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391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27870" y="5894413"/>
            <a:ext cx="17545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55121" y="501663"/>
            <a:ext cx="84207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Лемма связывает словоформы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3123" y="22509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66725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0422" y="2250929"/>
            <a:ext cx="127254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книги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4201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8603" y="2250929"/>
            <a:ext cx="15271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книгой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234315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5329980" y="4203700"/>
            <a:ext cx="131020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5358181" y="4118553"/>
            <a:ext cx="102819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96000" y="3409950"/>
            <a:ext cx="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03885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609600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673100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6731000" y="4118553"/>
            <a:ext cx="102807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31000" y="4203700"/>
            <a:ext cx="131001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252923" y="4472654"/>
            <a:ext cx="1788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Лемматизация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01406" y="5025288"/>
            <a:ext cx="249047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4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книга</a:t>
            </a:r>
            <a:endParaRPr lang="en-US" sz="6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43932" y="501663"/>
            <a:ext cx="82226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Одна форма — разные леммы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5137"/>
            <a:ext cx="179514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образцы 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08288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53200" y="2135137"/>
            <a:ext cx="1886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студенты 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53200" y="2655837"/>
            <a:ext cx="4172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проверять результаты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318754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2766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2194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32766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154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582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9154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278558" y="4948784"/>
            <a:ext cx="209740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сталь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939596" y="4948784"/>
            <a:ext cx="205295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стать</a:t>
            </a:r>
            <a:endParaRPr lang="en-US" sz="5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5713" y="501663"/>
            <a:ext cx="80949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Сохраняйте исходную строку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1304"/>
            <a:ext cx="528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48375"/>
            <a:ext cx="3059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Не  отменяйте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3550025"/>
            <a:ext cx="18389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запись!  »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85000" y="2078704"/>
            <a:ext cx="13163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normalized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2532532"/>
            <a:ext cx="35191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отменяйте запись!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985000" y="4345654"/>
            <a:ext cx="829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985000" y="4819650"/>
            <a:ext cx="6096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1657" y="4869212"/>
            <a:ext cx="357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21600" y="4819650"/>
            <a:ext cx="16129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002" y="4869212"/>
            <a:ext cx="1134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отменяйте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1500" y="4819650"/>
            <a:ext cx="11430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483" y="4869212"/>
            <a:ext cx="753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31500" y="4819650"/>
            <a:ext cx="5461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67276" y="4869212"/>
            <a:ext cx="1758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 flipV="1">
            <a:off x="5988050" y="2749550"/>
            <a:ext cx="711200" cy="711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6654356" y="2749550"/>
            <a:ext cx="44894" cy="12572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6573520" y="2749550"/>
            <a:ext cx="125730" cy="4490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131300" y="3371850"/>
            <a:ext cx="0" cy="596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0741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91313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2912421" y="5710066"/>
            <a:ext cx="650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Оригинал остаётся рядом с результатом обработки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3295" y="501663"/>
            <a:ext cx="92817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нужно сохранить для задачи?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88667"/>
            <a:ext cx="334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строка с пробелами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8949" y="2690044"/>
            <a:ext cx="67754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4322788" y="2690044"/>
            <a:ext cx="491172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отменяйте запись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3929615" y="3407594"/>
            <a:ext cx="8420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7491222" y="3407594"/>
            <a:ext cx="87185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  »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3645446" y="2690044"/>
            <a:ext cx="7785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4670495" y="3407594"/>
            <a:ext cx="292163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октября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1884363" y="5069681"/>
            <a:ext cx="2486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убираем?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53035" y="5069681"/>
            <a:ext cx="38855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должно остаться?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компьютер работает с текстом</dc:title>
  <dc:subject>Как компьютер работает с текстом</dc:subject>
  <dc:creator>Курс СИИ · NLP</dc:creator>
  <cp:lastModifiedBy>Курс СИИ · NLP</cp:lastModifiedBy>
  <cp:revision>1</cp:revision>
  <dcterms:created xsi:type="dcterms:W3CDTF">2026-09-08T13:35:31Z</dcterms:created>
  <dcterms:modified xsi:type="dcterms:W3CDTF">2026-09-08T13:35:31Z</dcterms:modified>
</cp:coreProperties>
</file>