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L07-S01
- Открыть вопросом о книге с чужой бронью.
- Короткое «Можно» звучит понятно, но противоречит нашему источнику.
- Сегодня различить связность, выполнение инструкции и правильность.
Фрагмент лекции: Студент спрашивает, можно ли продлить книгу,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L07-S01
- D03 сообщает срок 14 дней и исключение при чужой брони, но не число продлений.
- Определить три эталонных ответа до вызова модели.
- Эта информационная основа остаётся одинаковой в опытах с двумя инструкциями.
Фрагмент лекции: Возьмём один документ D03.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L07-S02
- Сопоставить три формата данных.
- Веса меняются при обучении.
- Это функциональные различия, а не обязательная одинаковая последовательность подготовки любой LLM.
Фрагмент лекции: При авторегрессионном предобучении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L07-S03
- Прочитать три требования strict: источник, короткая форма, отказ при отсутствии факта.
- Они задают проверяемое поведение.
- Далее сравним два входа с одним документом.
Фрагмент лекции: Запрос «Помоги студенту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L07-S03
- Две инструкции получают один D03 и одинаковые вопросы.
- Модель и greedy неизменны.
- Если добавить новый документ только strict, это уже другое сравнение.
Фрагмент лекции: При сравнении оставим сам документ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L07-S04
- Few-shot показан на правиле о ссылке восстановления пароля: срок 30 минут известен, количество повторных запросов не задано.
- Демонстрации показывают факт и отказ.
- В основном сравнении лабораторной few-shot не используется.
- Далее отделить контекст от изменения весов.
Фрагмент лекции: В zero-shot постановке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L07-S04
- Модель читает примеры как часть контекста.
- В следующем независимом вызове они должны быть переданы снова.
- Это отличие от SFT.
- Затем перейдём к изменению выбора токенов при фиксированных весах.
Фрагмент лекции: Параметры от этих демонстраций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L07-S05
- T положительна.
- Оценки делятся на T до softmax: порядок сохраняется, концентрация меняется.
- Следующий слайд сравнивает три температуры на одних оценках (2;1;0).
Фрагмент лекции: Пусть модель уже вычислила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L07-S05
- Вероятности округлены до четырёх знаков.
- При T=0,5 первый токен получает около 0,8668, при T=2 — 0,5065.
- Строки нормированы с учётом округления.
- Порядок A/B/C прежний.
- Затем обсудить, чего температура не проверяет.
Фрагмент лекции: Посчитаем три оценки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L07-S05
- Низкая T усиливает уже существующее предпочтение, но не добавляет факт.
- Greedy задаётся отдельным режимом без выборки; деления на ноль нет.
- Вернуться к неверному разрешению при брони.
- Далее ограничим набор кандидатов через top-p.
Фрагмент лекции: Greedy в нашем коде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L07-S06
- Первый элемент даёт массу 0,5, первые два — 0,8 и пересекают порог 0,75.
- Число сохранённых элементов минимально.
- Таблица показывает накопление вероятности A и B.
- Следующий шаг — нормировка выбранной массы.
Фрагмент лекции: Nucleus sampling, или top-p,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L07-S06
- A и B сохраняются, C исключается.
- Деление на 0,8 даёт 0,625 и 0,375.
- Top-p меняет набор кандидатов, сохраняя параметры модели прежними.
- В полном вызове также действует top-k.
Фрагмент лекции: Делим первые два числа на 0,8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L07-S06
- Порядок проверен в используемой версии Transformers.
- В опыте top_k=20 и top_p=0,8, температура 0,5 либо 1.
- Ручной расчёт top-p объяснял одну операцию; полный вызов сохраняет все настройки.
- Далее различить выбор токена и причину остановки.
Фрагмент лекции: В реальном опыте дополнительно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L07-S06
- MAX_NEW=64 считает новые токены, не обычные слова.
- EOS может появиться раньше; остановка по limit может оборвать ответ.
- Затем покажем, почему измерять нужно весь вход после шаблона.
Фрагмент лекции: Ограничение новых токенов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L07-S07
- System общий для двух вариантов: учебный помощник, русский язык.
- Ограничение источником находится в user только для strict.
- Шаблон обозначает роли и начало assistant.
- Эта структура входит в реальную длину запроса.
Фрагмент лекции: В интерфейсе мы видим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L07-S07
- Длина включает роли, разделители и содержимое.
- После отдельного применения шаблона токенизируем без повторного добавления специальных токенов.
- В опыте отклоняем вход длиннее 768, сохраняя источник целиком.
- Затем выделим только новое продолжение.
Фрагмент лекции: Вызов `apply_chat_template`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L07-S07
- Выход decoder-only модели включает префикс.
- Срез начинается после L входных токенов.
- Введённый документ не является частью нового ответа.
- Само продолжение теперь нужно проверить по содержанию и форме.
Фрагмент лекции: У decoder-only генератора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L07-S08
- «Можно» при чужой брони коротко, но неверно.
- «14 дней» на вопрос о числе продлений подменяет требуемую величину.
- Главный факт оценивается относительно вопроса.
- Отказ тоже нужно разделить на смысл и буквальный формат.
Фрагмент лекции: Рассмотрим ответ «Можно»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L07-S08
- В strict требуется ровно «НЕТ ДАННЫХ».
- Другое пояснение может честно сообщать об отсутствии факта, но не совпадать с форматом.
- Для basic такое требование не выдавалось.
- В JSON появится ещё более явная проверка структуры.
Фрагмент лекции: Для strict проверяется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L07-S08
- Это ручной контрпример, а не наблюдённый JSON-вывод модели.
- Структура объекта верна, но число 42 противоречит сроку D03.
- Проверить типы, затем факт отдельно.
- Следующий кадр показывает реальную ошибку strict.
Фрагмент лекции: В JSON-опыте требуются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L07-S09
- Буквальный ответ strict на вопрос о брони: «Ответ: Можно.».
- Блок «В документе D03» передаёт смысл запрета.
- Короткая форма не обеспечила верность.
- Следующая ошибка касается подмены количества сроком.
Фрагмент лекции: В основной части выполнены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L07-S09
- Точная просьба спрашивает количество продлений.
- В D03 его нет, ожидается отказ.
- Модель strict вместо этого повторила срок.
- Basic добавил правило о каждой неделе и дошёл до предела; подробный вывод сохранён в ноутбуке.
Фрагмент лекции: На вопрос о числе продлений basic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L07-S09
- Результаты одного strict-вопроса о сроке.
- Во всех четырёх вызовах top_p=0,8 и top_k=20; меняются T и seed.
- Ответ везде буквально «14 дней.» с EOS.
- По совпадению строк нельзя заключить, что распределения одинаковы.
- Затем показать отдельный JSON-опыт.
Фрагмент лекции: Затем один strict-промпт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L07-S09
- Фактический объект отформатирован для слайда. answer — строка, has_answer — bool; ключей два.
- Число 14 соответствует вопросу о днях, единица в самой строке не требовалась схемой.
- Это один успешный случай.
- Завершить переходом к поиску источника.
Фрагмент лекции: Отдельный JSON-запрос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L07-S10
- Сегодня D03 был выбран заранее.
- Следующий шаг — поиск в коллекции, включение фрагментов и та же проверка ответа.
- Если документ уже доступен, но условие прочитано неверно, одно улучшение поиска не устраняет эту ошибку.
Фрагмент лекции: Сегодня документ был известен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76624" y="1488034"/>
            <a:ext cx="456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Инструкции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572072" y="2338934"/>
            <a:ext cx="514921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 ответы LLM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6135" y="3814070"/>
            <a:ext cx="40614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задать задачу модели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02747" y="4239520"/>
            <a:ext cx="32905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проверить её ответ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87429" y="501663"/>
            <a:ext cx="81610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документ, три проверки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5972" y="1773066"/>
            <a:ext cx="64560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документ D03 · правила продления книги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315115" y="2408904"/>
            <a:ext cx="919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73154" y="2408904"/>
            <a:ext cx="203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Основание в D03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0239" y="2408904"/>
            <a:ext cx="2185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Ожидаемый ответ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47838" y="2815628"/>
            <a:ext cx="206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какой срок?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2314" y="2815628"/>
            <a:ext cx="165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указан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296718" y="2815628"/>
            <a:ext cx="1129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15072" y="3272828"/>
            <a:ext cx="2521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чужой брони?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51063" y="3272828"/>
            <a:ext cx="3087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 запрещено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81388" y="3272828"/>
            <a:ext cx="561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6867" y="3730028"/>
            <a:ext cx="327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раз за семестр?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64956" y="3730028"/>
            <a:ext cx="224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не задано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61818" y="3730028"/>
            <a:ext cx="1800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ДАННЫХ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44642" y="5647404"/>
            <a:ext cx="7233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Сначала определяем ответы сами — затем проверяем модель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35770" y="6034957"/>
            <a:ext cx="204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Учебная база «Север» · D03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9738" y="501663"/>
            <a:ext cx="9488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Обучающие сигналы различаются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22942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Предобучение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50539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Продолжение текста по префиксу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590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3876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 и желаемый ответ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2637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Предпочтения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2076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ответов на один запрос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965014" y="5647404"/>
            <a:ext cx="8378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Форматы обучающего сигнала; не обязательная цепочка для любой LLM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550402" y="6034957"/>
            <a:ext cx="28403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Ouyang et al., 2022 · Rafailov et al., 2023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31912" y="501663"/>
            <a:ext cx="88576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именно требуется от ответа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13023" y="1773066"/>
            <a:ext cx="52952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Требования уточнённой инструкции strict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292077"/>
            <a:ext cx="15017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52900" y="2292077"/>
            <a:ext cx="50501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Используй только документ ниже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2984227"/>
            <a:ext cx="113220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152900" y="2984227"/>
            <a:ext cx="44075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 короткое предложение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676377"/>
            <a:ext cx="15754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факта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52900" y="3676377"/>
            <a:ext cx="40868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Ответь точно: НЕТ ДАННЫХ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686069" y="5647404"/>
            <a:ext cx="69443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Выполнение каждого требования ещё предстоит проверить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18119" y="501663"/>
            <a:ext cx="86988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Две инструкции, один источник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59889" y="1773066"/>
            <a:ext cx="75888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Меняется инструкция; документ и три вопроса сохраняются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66580" y="2397373"/>
            <a:ext cx="6737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07826" y="2918720"/>
            <a:ext cx="2994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 + вопрос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52561" y="2397373"/>
            <a:ext cx="6769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94258" y="2918720"/>
            <a:ext cx="2994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 + вопрос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57009" y="3534670"/>
            <a:ext cx="36760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Источник, форма, отказ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82837" y="5647404"/>
            <a:ext cx="65474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Qwen3-0.6B · фиксированные веса · greedy · без few-shot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53527" y="501663"/>
            <a:ext cx="8793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Пример добавляется в контекст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93235" y="1773066"/>
            <a:ext cx="41160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демонстраций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3975"/>
            <a:ext cx="66655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«Ссылка для восстановления пароля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2635625"/>
            <a:ext cx="37871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действует 30 минут»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25260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долго действует?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16097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минут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3546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повторных запросов?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4813"/>
            <a:ext cx="22955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ДАННЫХ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222073" y="5647404"/>
            <a:ext cx="5861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Примеры показывают и извлечение факта, и отказ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91112" y="501663"/>
            <a:ext cx="75304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Few-shot не обновляет веса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24285" y="2397373"/>
            <a:ext cx="25787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Few-shot в контексте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91360" y="2918720"/>
            <a:ext cx="26409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Примеры входят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27111" y="3344170"/>
            <a:ext cx="27546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текущий запрос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92426" y="3960120"/>
            <a:ext cx="22269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 прежние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42604" y="2397373"/>
            <a:ext cx="4940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77772" y="2918720"/>
            <a:ext cx="26409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Примеры входят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08774" y="3344170"/>
            <a:ext cx="3362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обучающие данные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62838" y="3960120"/>
            <a:ext cx="28619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 обновляются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982203" y="5647404"/>
            <a:ext cx="83356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новом независимом вызове нужные демонстрации передаются снова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06491" y="501663"/>
            <a:ext cx="72783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Масштабирование оценок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08514" y="2348382"/>
            <a:ext cx="4702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Оценки следующего токена z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72382" y="3256883"/>
            <a:ext cx="39624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= softmax(z / T)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737771" y="4462932"/>
            <a:ext cx="8178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&gt; 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179362" y="5647404"/>
            <a:ext cx="5956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положительной T порядок оценок сохраняется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84621" y="501663"/>
            <a:ext cx="719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значения temperature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18289" y="1773066"/>
            <a:ext cx="6674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Учебные оценки z = (2; 1; 0) · вероятности округлены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01920" y="2408904"/>
            <a:ext cx="231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00399" y="2408904"/>
            <a:ext cx="9861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 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24511" y="2408904"/>
            <a:ext cx="9766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 B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445308" y="2408904"/>
            <a:ext cx="974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 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10119" y="2809081"/>
            <a:ext cx="614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63353" y="28090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0,8668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82779" y="28090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0,1173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302179" y="28090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0,0159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763909" y="3386931"/>
            <a:ext cx="3073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63353" y="338693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0,6652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82779" y="338693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0,2447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02179" y="338693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0,0900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763909" y="3964781"/>
            <a:ext cx="3073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63353" y="39647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0,5065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82779" y="39647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0,3072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302179" y="396478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0,1863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262179" y="5647404"/>
            <a:ext cx="58026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Температура меняет концентрацию вероятностей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64506" y="501663"/>
            <a:ext cx="8195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Уверенность и достоверность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41885" y="2397373"/>
            <a:ext cx="9264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43221" y="2918720"/>
            <a:ext cx="33299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Выбираем максимум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2054" y="3534670"/>
            <a:ext cx="3701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случайной выборки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526782" y="2397373"/>
            <a:ext cx="2727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Низкая T при sampling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01434" y="2918720"/>
            <a:ext cx="40055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Усиливаем предпочтение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68147" y="3534670"/>
            <a:ext cx="32467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 не проверяется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74818" y="5647404"/>
            <a:ext cx="7781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Если неверный ответ уже лидирует, низкая T не делает его верным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19173" y="501663"/>
            <a:ext cx="85147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Top-p оставляет нужную массу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79863" y="1773066"/>
            <a:ext cx="45345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= (0,5; 0,3; 0,2) · порог top-p = 0,75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02835" y="2408904"/>
            <a:ext cx="1386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Добавляем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92174" y="2408904"/>
            <a:ext cx="2329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Накопленная масса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049766" y="2408904"/>
            <a:ext cx="11188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240185" y="2810770"/>
            <a:ext cx="3073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9218" y="2810770"/>
            <a:ext cx="551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06587" y="2810770"/>
            <a:ext cx="22142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Недостаточно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74355" y="3325120"/>
            <a:ext cx="8394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+ 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79218" y="3325120"/>
            <a:ext cx="551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5676" y="3325120"/>
            <a:ext cx="25660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Порог достигнут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248345" y="3839470"/>
            <a:ext cx="2914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42940" y="3839470"/>
            <a:ext cx="4235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79028" y="3839470"/>
            <a:ext cx="22650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добавляем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113729" y="5647404"/>
            <a:ext cx="60750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Оставляем минимальное число верхних кандидатов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648446" y="6034957"/>
            <a:ext cx="2735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Holtzman et al., 2020 · ручной пример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3922" y="501663"/>
            <a:ext cx="75806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Делим на выбранную массу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37693" y="2348382"/>
            <a:ext cx="542099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Сохранённая масса: 0,5 + 0,3 = 0,8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963651" y="3260579"/>
            <a:ext cx="436308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(0,5 / 0,8; 0,3 / 0,8; 0)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870069" y="4462932"/>
            <a:ext cx="25527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(0,625; 0,375; 0)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885834" y="5647404"/>
            <a:ext cx="65354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Нормируем вероятности оставшихся кандидатов заново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77492" y="501663"/>
            <a:ext cx="87801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Порядок правил декодирования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47818" y="1773066"/>
            <a:ext cx="82251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Порядок операций в версии библиотеки, используемой в работе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03966" y="2769813"/>
            <a:ext cx="22034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795932" y="3428924"/>
            <a:ext cx="136906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= 0,5 или 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0390" y="2769813"/>
            <a:ext cx="1007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Top-k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804033" y="3428924"/>
            <a:ext cx="685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 = 20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12593" y="2769813"/>
            <a:ext cx="10356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Top-p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9431465" y="3428924"/>
            <a:ext cx="7632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= 0,8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602986" y="5647404"/>
            <a:ext cx="7106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Ручной пример top-p объяснял только одну из этих операций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53450" y="6034957"/>
            <a:ext cx="28594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Transformers 5.16.1 · generation/utils.py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40547" y="501663"/>
            <a:ext cx="82734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EOS или предел продолжения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93600" y="1773066"/>
            <a:ext cx="65379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max_new_tokens = 64 задаёт предел новых токенов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130017" y="2397373"/>
            <a:ext cx="5511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6721" y="2888736"/>
            <a:ext cx="167386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9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Стоп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1849831" y="3858520"/>
            <a:ext cx="3114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Специальный токен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31332" y="4283970"/>
            <a:ext cx="19437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завершения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84629" y="2397373"/>
            <a:ext cx="6102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00288" y="2878684"/>
            <a:ext cx="97917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7499286" y="3960120"/>
            <a:ext cx="27971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Достигнут предел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00721" y="4385570"/>
            <a:ext cx="22015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продолжения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95392" y="5647404"/>
            <a:ext cx="77203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токенов и причина остановки сохраняются вместе с ответом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98587" y="501663"/>
            <a:ext cx="87560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ролей к последовательности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94549" y="2771826"/>
            <a:ext cx="19742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91691" y="3416224"/>
            <a:ext cx="13893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· user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98764" y="2771826"/>
            <a:ext cx="23101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 template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71066" y="3416224"/>
            <a:ext cx="21678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роли и разделители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06790" y="2771826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Начало ответа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336469" y="3416224"/>
            <a:ext cx="9601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assistant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2233797" y="5647404"/>
            <a:ext cx="7853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нашем опыте «только по документу» входит в user лишь для strict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266555" y="6034957"/>
            <a:ext cx="21424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Transformers · Chat templates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76290" y="501663"/>
            <a:ext cx="72231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Считаем весь вход модели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4627" y="1773066"/>
            <a:ext cx="5356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входа перед вызовом модели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19091" y="2772670"/>
            <a:ext cx="13284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Шаблон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03934" y="3384474"/>
            <a:ext cx="21659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содержимое и роли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134077" y="2772670"/>
            <a:ext cx="2061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Токенизация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39226" y="3384474"/>
            <a:ext cx="161671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повторных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80934" y="3676574"/>
            <a:ext cx="23355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специальных токенов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91792" y="2772670"/>
            <a:ext cx="26460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длины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18055" y="3384474"/>
            <a:ext cx="19989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 целиком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3071273" y="5647404"/>
            <a:ext cx="61791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этой работе вход длиннее 768 токенов отклоняется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06529" y="501663"/>
            <a:ext cx="6705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Отделяем новые токены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89238" y="2348382"/>
            <a:ext cx="71678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 генератора = префикс + продолжение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532670" y="3257721"/>
            <a:ext cx="52355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20"/>
              </a:lnSpc>
              <a:buNone/>
            </a:pPr>
            <a:r>
              <a:rPr lang="en-US" sz="4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output[0, input_length:]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500018" y="4461770"/>
            <a:ext cx="5340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Декодируем только новые токены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77940" y="5647404"/>
            <a:ext cx="57550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Введённый документ не является новым ответом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74555" y="501663"/>
            <a:ext cx="57429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Два критерия ответа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65788" y="1773066"/>
            <a:ext cx="82086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факт оценивается относительно поставленного вопроса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442115" y="2408904"/>
            <a:ext cx="919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86826" y="2408904"/>
            <a:ext cx="1851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Короткий ответ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32393" y="2408904"/>
            <a:ext cx="1244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не так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34510" y="2813456"/>
            <a:ext cx="37445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Продлить при чужой брони?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5438413" y="2813456"/>
            <a:ext cx="13430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«Можно»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7723822" y="2813456"/>
            <a:ext cx="326263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Противоречит источнику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1306728" y="3257956"/>
            <a:ext cx="320548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раз за семестр?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5401545" y="3257956"/>
            <a:ext cx="14128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«14 дней»</a:t>
            </a:r>
            <a:endParaRPr lang="en-US" sz="2350" dirty="0"/>
          </a:p>
        </p:txBody>
      </p:sp>
      <p:sp>
        <p:nvSpPr>
          <p:cNvPr id="16" name="Text 14"/>
          <p:cNvSpPr/>
          <p:nvPr/>
        </p:nvSpPr>
        <p:spPr>
          <a:xfrm>
            <a:off x="7588440" y="3257956"/>
            <a:ext cx="35337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Отвечает на другой вопрос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3197720" y="5647404"/>
            <a:ext cx="59105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обоих примерах главный факт получает 0 баллов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86221" y="501663"/>
            <a:ext cx="65366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Смысл отказа и формат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01709" y="1773066"/>
            <a:ext cx="63068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отсутствии факта strict требует точную строку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80629" y="2397373"/>
            <a:ext cx="28740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Содержательный отказ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48852" y="2918720"/>
            <a:ext cx="2117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«В источнике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63934" y="3344170"/>
            <a:ext cx="2488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не указано»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61732" y="2397373"/>
            <a:ext cx="22561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Заданный формат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48791" y="2918720"/>
            <a:ext cx="20847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ДАННЫХ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3979" y="5647404"/>
            <a:ext cx="82727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basic такого требования не было; его проверяем по своей инструкции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81447" y="501663"/>
            <a:ext cx="79565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Схема верна, факт ошибочен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86499" y="1773066"/>
            <a:ext cx="53282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Ручной контрпример для вопроса о сроке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4978"/>
            <a:ext cx="602424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2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{"answer":"42","has_answer":true}</a:t>
            </a:r>
            <a:endParaRPr lang="en-US" sz="3250" dirty="0"/>
          </a:p>
        </p:txBody>
      </p:sp>
      <p:sp>
        <p:nvSpPr>
          <p:cNvPr id="9" name="Text 7"/>
          <p:cNvSpPr/>
          <p:nvPr/>
        </p:nvSpPr>
        <p:spPr>
          <a:xfrm>
            <a:off x="914400" y="4225004"/>
            <a:ext cx="29000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ключа, верные типы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674813"/>
            <a:ext cx="30918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Схема выполнена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400800" y="4225004"/>
            <a:ext cx="3337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 сообщает 14 дней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4674813"/>
            <a:ext cx="2704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 ошибочен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2950813" y="5647404"/>
            <a:ext cx="6410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Парсер и проверка содержания решают разные задачи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9016" y="501663"/>
            <a:ext cx="77997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Условие прочитано неверно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87300" y="1773066"/>
            <a:ext cx="63284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Фактический ответ strict на вопрос о чужой брони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22043"/>
            <a:ext cx="474726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«Ответ: Можно.»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914400" y="4225004"/>
            <a:ext cx="2026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документе D03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678674"/>
            <a:ext cx="27127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чужой брони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914400" y="5097774"/>
            <a:ext cx="348678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 запрещено</a:t>
            </a:r>
            <a:endParaRPr lang="en-US" sz="275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16535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факт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4813"/>
            <a:ext cx="15855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баллов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8800465" y="6034957"/>
            <a:ext cx="25901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7 · strict / reservation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09330" y="501663"/>
            <a:ext cx="76904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Срок не заменяет число раз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43822" y="1773066"/>
            <a:ext cx="66306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«Сколько раз за семестр можно продлевать книгу?»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0279"/>
            <a:ext cx="5486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«Продление книги можно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2708129"/>
            <a:ext cx="475361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продлить на 14 дней.»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1532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документе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28740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не задано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1657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ответе strict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7670"/>
            <a:ext cx="46075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Количество заменено сроком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77084" y="6034957"/>
            <a:ext cx="22110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7 · strict / count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08822" y="501663"/>
            <a:ext cx="7513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Четыре одинаковых ответа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02705" y="1773066"/>
            <a:ext cx="63157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strict-вопрос о сроке · top-p = 0,8 · top-k = 20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74920" y="2231104"/>
            <a:ext cx="231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62789" y="2231104"/>
            <a:ext cx="611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86946" y="2231104"/>
            <a:ext cx="2138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Буквальный ответ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417812" y="2231104"/>
            <a:ext cx="12846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Остановка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1330" y="2635656"/>
            <a:ext cx="4781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3442265" y="2635656"/>
            <a:ext cx="25273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6062917" y="2635656"/>
            <a:ext cx="118237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дней.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9769602" y="2635656"/>
            <a:ext cx="5822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350" dirty="0"/>
          </a:p>
        </p:txBody>
      </p:sp>
      <p:sp>
        <p:nvSpPr>
          <p:cNvPr id="16" name="Text 14"/>
          <p:cNvSpPr/>
          <p:nvPr/>
        </p:nvSpPr>
        <p:spPr>
          <a:xfrm>
            <a:off x="1551330" y="3080156"/>
            <a:ext cx="4781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3366637" y="3080156"/>
            <a:ext cx="40386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42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6062917" y="3080156"/>
            <a:ext cx="118237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дней.</a:t>
            </a:r>
            <a:endParaRPr lang="en-US" sz="2350" dirty="0"/>
          </a:p>
        </p:txBody>
      </p:sp>
      <p:sp>
        <p:nvSpPr>
          <p:cNvPr id="19" name="Text 17"/>
          <p:cNvSpPr/>
          <p:nvPr/>
        </p:nvSpPr>
        <p:spPr>
          <a:xfrm>
            <a:off x="9769602" y="3080156"/>
            <a:ext cx="5822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1664265" y="3524656"/>
            <a:ext cx="25273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3442265" y="3524656"/>
            <a:ext cx="25273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2350" dirty="0"/>
          </a:p>
        </p:txBody>
      </p:sp>
      <p:sp>
        <p:nvSpPr>
          <p:cNvPr id="22" name="Text 20"/>
          <p:cNvSpPr/>
          <p:nvPr/>
        </p:nvSpPr>
        <p:spPr>
          <a:xfrm>
            <a:off x="6062917" y="3524656"/>
            <a:ext cx="118237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дней.</a:t>
            </a:r>
            <a:endParaRPr lang="en-US" sz="2350" dirty="0"/>
          </a:p>
        </p:txBody>
      </p:sp>
      <p:sp>
        <p:nvSpPr>
          <p:cNvPr id="23" name="Text 21"/>
          <p:cNvSpPr/>
          <p:nvPr/>
        </p:nvSpPr>
        <p:spPr>
          <a:xfrm>
            <a:off x="9769602" y="3524656"/>
            <a:ext cx="5822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350" dirty="0"/>
          </a:p>
        </p:txBody>
      </p:sp>
      <p:sp>
        <p:nvSpPr>
          <p:cNvPr id="24" name="Text 22"/>
          <p:cNvSpPr/>
          <p:nvPr/>
        </p:nvSpPr>
        <p:spPr>
          <a:xfrm>
            <a:off x="1664265" y="3969156"/>
            <a:ext cx="25273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50" dirty="0"/>
          </a:p>
        </p:txBody>
      </p:sp>
      <p:sp>
        <p:nvSpPr>
          <p:cNvPr id="25" name="Text 23"/>
          <p:cNvSpPr/>
          <p:nvPr/>
        </p:nvSpPr>
        <p:spPr>
          <a:xfrm>
            <a:off x="3366637" y="3969156"/>
            <a:ext cx="40386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42</a:t>
            </a:r>
            <a:endParaRPr lang="en-US" sz="2350" dirty="0"/>
          </a:p>
        </p:txBody>
      </p:sp>
      <p:sp>
        <p:nvSpPr>
          <p:cNvPr id="26" name="Text 24"/>
          <p:cNvSpPr/>
          <p:nvPr/>
        </p:nvSpPr>
        <p:spPr>
          <a:xfrm>
            <a:off x="6062917" y="3969156"/>
            <a:ext cx="118237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дней.</a:t>
            </a:r>
            <a:endParaRPr lang="en-US" sz="2350" dirty="0"/>
          </a:p>
        </p:txBody>
      </p:sp>
      <p:sp>
        <p:nvSpPr>
          <p:cNvPr id="27" name="Text 25"/>
          <p:cNvSpPr/>
          <p:nvPr/>
        </p:nvSpPr>
        <p:spPr>
          <a:xfrm>
            <a:off x="9769602" y="3969156"/>
            <a:ext cx="58229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0"/>
              </a:lnSpc>
              <a:buNone/>
            </a:pPr>
            <a:r>
              <a:rPr lang="en-US" sz="2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350" dirty="0"/>
          </a:p>
        </p:txBody>
      </p:sp>
      <p:sp>
        <p:nvSpPr>
          <p:cNvPr id="28" name="Text 26"/>
          <p:cNvSpPr/>
          <p:nvPr/>
        </p:nvSpPr>
        <p:spPr>
          <a:xfrm>
            <a:off x="2600770" y="5647404"/>
            <a:ext cx="7121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Одинаковые строки не означают одинаковых распределений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340471" y="6034957"/>
            <a:ext cx="3044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7 · четыре sampling-вызова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46573" y="501663"/>
            <a:ext cx="76161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JSON прошёл обе проверки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4927" y="1773066"/>
            <a:ext cx="62299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Фактический объект из отдельного JSON-запроса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4978"/>
            <a:ext cx="602424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2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{"answer":"14","has_answer":true}</a:t>
            </a:r>
            <a:endParaRPr lang="en-US" sz="3250" dirty="0"/>
          </a:p>
        </p:txBody>
      </p:sp>
      <p:sp>
        <p:nvSpPr>
          <p:cNvPr id="9" name="Text 7"/>
          <p:cNvSpPr/>
          <p:nvPr/>
        </p:nvSpPr>
        <p:spPr>
          <a:xfrm>
            <a:off x="914400" y="4225004"/>
            <a:ext cx="1224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Структура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674813"/>
            <a:ext cx="30918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Схема выполнена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400800" y="4225004"/>
            <a:ext cx="153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4674813"/>
            <a:ext cx="19958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верен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2974905" y="5647404"/>
            <a:ext cx="63487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Единица «дней» внутри строки схемой не требовалась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64347" y="6034957"/>
            <a:ext cx="30314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7 · отдельный JSON-запрос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82291" y="501663"/>
            <a:ext cx="69494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Следующий шаг — поиск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0981" y="1773066"/>
            <a:ext cx="50336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этой лекции D03 был выбран заранее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39919" y="2771826"/>
            <a:ext cx="10801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Найти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93273" y="3416224"/>
            <a:ext cx="25831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документы в коллекции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29720" y="2771826"/>
            <a:ext cx="16395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Передать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90624" y="3416224"/>
            <a:ext cx="21126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нужные фрагменты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890318" y="2771826"/>
            <a:ext cx="1843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Проверить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22690" y="3416224"/>
            <a:ext cx="19799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и основания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003952" y="5647404"/>
            <a:ext cx="8328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чтения уже найденного документа требует отдельного разбора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Инструкции и ответы LLM</dc:title>
  <dc:subject>Инструкции и ответы LLM</dc:subject>
  <dc:creator>Курс СИИ · NLP</dc:creator>
  <cp:lastModifiedBy>Курс СИИ · NLP</cp:lastModifiedBy>
  <cp:revision>1</cp:revision>
  <dcterms:created xsi:type="dcterms:W3CDTF">2026-09-21T15:55:30Z</dcterms:created>
  <dcterms:modified xsi:type="dcterms:W3CDTF">2026-09-21T15:55:30Z</dcterms:modified>
</cp:coreProperties>
</file>