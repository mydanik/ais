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L02-S01
- Вернуться к обращениям из первой работы: сообщение нужно направить в один из шести отделов.
- Ручные правила требуют дописывать случаи; обучаемая модель использует размеченные примеры.
- Различить обучение и применение, прежде чем переходить к вычислениям.
Фрагмент лекции: На прошлом занятии мы подготовили обращения в электронную приёмную.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L02-S01
- При обучении доступны тексты и правильные категории. При применении модель получает новый текст.
- Метки validation и test используются для оценки после предсказания, а не как вход классификатора.
- Для проверки нужно заранее отложить новые ситуации.
Фрагмент лекции: Важно различать обучение и применение.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L02-S02
- Все пять вариантов одного group_id остаются вместе. Размеры частей: 72/24/24 группы, 360/120/120 строк.
- На train обучаем модель, на validation выбираем вариант, на test оцениваем выбранную систему.
- Теперь превратим сообщения в числовые признаки.
Фрагмент лекции: Если обучить модель на всех примерах и проверить на них же,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L02-S03
- Прочитать три документа и найти их строки в матрице. Порядок столбцов фиксирован.
- В d1 у слова «книга» значение 2. Первые два документа имеют общую ненулевую координату.
- Перейти от частоты внутри документа к распространённости по коллекции.
Фрагмент лекции: Классификатору понадобится числовое представление сообщения.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L02-S04
- TF=2 в первом документе: слово «книга» встретилось дважды. DF=2 во всей тройке: оно есть в d1 и d2.
- Повтор внутри одного документа не добавляет ещё один документ к DF.
- Теперь при N=3 вычислим IDF.
Фрагмент лекции: Обычный счётчик одинаково учитывает два слова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L02-S04
- Используется сглаженная формула: 1 + ln((1+N)/(1+DF)); TF — обычное число вхождений.
- Для «книги» DF=2 и IDF≈1,2877; для «библиотеки» DF=1 и IDF≈1,6931.
- После умножения TF на IDF нормируем весь вектор.
Фрагмент лекции: IDF становится меньше для слов, встречающихся во многих документах.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L02-S04
- В d1 ненулевые веса библиотеки и книги: 1,6931 и 2,5754. Делим их на одну евклидову длину.
- Получаем примерно 0,5494 и 0,8356. Сумма квадратов равна единице с учётом округления; сумма координат не обязана.
- Дальше эти признаки использует классификатор.
Фрагмент лекции: Затем выполним L2-нормировку: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L02-S05
- Коэффициенты заданы вручную для двух признаков. Смещения нулевые.
- Библиотека: 2×0,8−0,1=1,5; ИТ: −0,8+2×0,1=−0,6. Выбираем библиотеку.
- Преобразуем оценки в вероятности.
Фрагмент лекции: После векторизации каждый текст — вектор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L02-S05
- Берём экспоненту каждой оценки и делим на общую сумму. Для наглядности оставлены два класса.
- Из 1,5 и −0,6 получаются 0,890903 и 0,109097; показанные проценты округлены.
- Чтобы оценить ответ, нужна вероятность правильного класса.
Фрагмент лекции: В нашем опыте с шестью категориями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L02-S05
- p_y — вероятность именно правильного класса. При p_y=0,1 потеря≈2,303, при 0,9≈0,105.
- Слева на графике модель назначает правильному классу малую вероятность и получает большую потерю.
- Посмотрим, как изменение одного коэффициента влияет на результат.
Фрагмент лекции: Обозначим вероятность правильной категории через p_y.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L02-S05
- Правильная метка в примере — библиотека. Увеличиваем только её вес слова «книга» на 0,1.
- При x=0,8 оценка увеличивается на 0,08, вероятность растёт примерно с 0,891 до 0,898.
- Это отдельный пробный шаг. При обучении учитываются остальные сообщения и регуляризация.
Фрагмент лекции: Посмотрим на один возможный шаг.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L02-S05
- При обучении учитываем и ошибку на train, и штраф за большие коэффициенты.
- Меньший C соответствует более сильной регуляризации. В двух вариантах лабораторной C одинаков.
- Прежде чем оценивать обученную модель, зададим простой baseline.
Фрагмент лекции: Параметры должны одновременно объяснять разные сообщения.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L02-S06
- Постоянная категория при шести равных классах даёт 1/6≈16,7%. При доле ИТ 90% постоянный ИТ даёт 90%.
- Обе стратегии обходятся без чтения сообщения. Сопоставлять accuracy нужно с составом данных.
- Матрица ошибок покажет, какой класс остался без правильных ответов.
Фрагмент лекции: Перед сложной системой полезно проверить совсем простую: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L02-S07
- Строки — истинные классы, столбцы — предсказанные. Модель всегда отвечает A.
- 90 ответов верны, но ни один из десяти объектов B не распознан.
- Для A разберём precision и recall.
Фрагмент лекции: Accuracy — доля объектов с правильной меткой.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L02-S07
- Для класса A: TP=90, FP=10, FN=0.
- Precision: 90 из 100 предсказаний A верны. Recall: найдены все 90 настоящих A.
- Затем посчитаем F1 отдельно для A и B.
Фрагмент лекции: Для одного выбранного класса можно выделить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L02-S07
- Для A F1=180/190≈0,9474; для B F1=0. Их среднее≈0,4737.
- Accuracy=0,9 относится к той же матрице. Равный вес классов показывает провал B.
- Вернёмся к признакам и сравним слова с символьными фрагментами.
Фрагмент лекции: F1 объединяет precision и recall: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L02-S08
- Слова «книга» и «книгу» имеют разные словные координаты, но общие фрагменты «кни» и «ниг».
- char_wb строит фрагменты внутри границ слов. В лабораторной используем длины 3–5. Общие фрагменты помогают сопоставлять словоформы, но сами по себе не объясняют связь синонимов.
- Чтобы сравнить представления, оставим алгоритм и данные одинаковыми.
Фрагмент лекции: Теперь сравним два представления.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L02-S08
- Обе модели обучены отдельно на одном train с одинаковыми настройками классификатора.
- На validation macro-F1 словного варианта≈0,4120, символьного≈0,7430; выбирается char_wb.
- Внутри fit оптимизируется логарифмическая потеря с регуляризацией; macro-F1 служит критерием выбора.
Фрагмент лекции: Чтобы понять вклад представления,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L02-S09
- В fit векторизатор изучает словарь и IDF, классификатор — веса по признакам и меткам train.
- В predict новые тексты проходят transform, затем классификатор использует сохранённые веса. Для validation/test новый словарь не строится.
- Покажем ошибочный порядок, который раскрывает информацию из test.
Фрагмент лекции: У нашей системы два связанных шага: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L02-S09
- Если fit_transform выполнен на всех текстах до разделения, словарь и IDF уже учитывают test.
- Правильный порядок для нашего опыта: split по группам, затем fit только на train.
- После выбора на validation один раз оцениваем систему на test.
Фрагмент лекции: Рассмотрим ошибку: сначала вызвать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L02-S10
- Выбран символьный вариант. В test 120 строк из 24 групп; 95 строк классифицированы правильно.
- Accuracy≈0,7917 и macro-F1≈0,7652 относятся к этому учебному корпусу и закреплённым настройкам.
- Откроем сами ошибки, начиная с обращения о монографии.
Фрагмент лекции: После итогового предсказания откроем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L02-S10
- Строка с конечной точкой относится к библиотеке, но модель выбрала ИТ.
- Слабая связь «монографии» с библиотечными примерами — гипотеза; для проверки нужны признаки и train.
- В следующем примере ответы меняются даже внутри одной группы.
Фрагмент лекции: Среди ошибок есть обращение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L02-S10
- Точные строки включают конечную точку. Основа даёт ИТ, добавление «Здравствуйте! » — учебный процесс.
- В library-20 все пять вариантов ошибочны: один ИТ, четыре — учебный процесс. Верная категория — библиотека. Без точки основа тоже даёт учебный процесс.
- Предложить следующую проверку устойчивости. На следующей лекции применим векторы к поиску документов.
Фрагмент лекции: При этом ответы внутри одной группы не всегда одинаковы.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39395" y="1488034"/>
            <a:ext cx="582866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Классификация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905921" y="2338934"/>
            <a:ext cx="248158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текста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53060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3019" y="3814070"/>
            <a:ext cx="33089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слов в сообщении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33665" y="4239520"/>
            <a:ext cx="30448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решению модели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92078" y="501663"/>
            <a:ext cx="87166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При обучении известны ответы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13604"/>
            <a:ext cx="12185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466181"/>
            <a:ext cx="41116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Тексты + верные метки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153400" y="2466181"/>
            <a:ext cx="207581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53400" y="2955131"/>
            <a:ext cx="14471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модели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918200" y="2749550"/>
            <a:ext cx="17018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7499350" y="27495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H="1" flipV="1">
            <a:off x="7499350" y="26924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4136104"/>
            <a:ext cx="15601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Применение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4688681"/>
            <a:ext cx="22244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Новый текст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105400" y="4688681"/>
            <a:ext cx="1490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534400" y="4688681"/>
            <a:ext cx="1857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Категория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4127500" y="4889500"/>
            <a:ext cx="7493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4756150" y="48895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 flipV="1">
            <a:off x="4756150" y="48323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556500" y="4889500"/>
            <a:ext cx="7493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8185150" y="48895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H="1" flipV="1">
            <a:off x="8185150" y="48323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99107" y="501663"/>
            <a:ext cx="87090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Проверяем на новых ситуациях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51099" y="1850428"/>
            <a:ext cx="6612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варианты одного обращения остаются вместе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511061" y="2620302"/>
            <a:ext cx="103441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66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72</a:t>
            </a:r>
            <a:endParaRPr lang="en-US" sz="6600" dirty="0"/>
          </a:p>
        </p:txBody>
      </p:sp>
      <p:sp>
        <p:nvSpPr>
          <p:cNvPr id="9" name="Shape 7"/>
          <p:cNvSpPr/>
          <p:nvPr/>
        </p:nvSpPr>
        <p:spPr>
          <a:xfrm>
            <a:off x="914400" y="3822700"/>
            <a:ext cx="6126480" cy="279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0513" y="4211466"/>
            <a:ext cx="66167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460217" y="4690567"/>
            <a:ext cx="1136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360 строк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36002" y="2620302"/>
            <a:ext cx="110553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6600" dirty="0">
                <a:solidFill>
                  <a:srgbClr val="0070C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24</a:t>
            </a:r>
            <a:endParaRPr lang="en-US" sz="6600" dirty="0"/>
          </a:p>
        </p:txBody>
      </p:sp>
      <p:sp>
        <p:nvSpPr>
          <p:cNvPr id="13" name="Shape 11"/>
          <p:cNvSpPr/>
          <p:nvPr/>
        </p:nvSpPr>
        <p:spPr>
          <a:xfrm>
            <a:off x="7117080" y="3822700"/>
            <a:ext cx="2042160" cy="279400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6500" y="4211466"/>
            <a:ext cx="127444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620762" y="4690567"/>
            <a:ext cx="1136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120 строк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754362" y="2620302"/>
            <a:ext cx="110553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6600" dirty="0">
                <a:solidFill>
                  <a:srgbClr val="65706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24</a:t>
            </a:r>
            <a:endParaRPr lang="en-US" sz="6600" dirty="0"/>
          </a:p>
        </p:txBody>
      </p:sp>
      <p:sp>
        <p:nvSpPr>
          <p:cNvPr id="17" name="Shape 15"/>
          <p:cNvSpPr/>
          <p:nvPr/>
        </p:nvSpPr>
        <p:spPr>
          <a:xfrm>
            <a:off x="9235440" y="3822700"/>
            <a:ext cx="2042160" cy="279400"/>
          </a:xfrm>
          <a:prstGeom prst="rect">
            <a:avLst/>
          </a:prstGeom>
          <a:solidFill>
            <a:srgbClr val="65706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31857" y="4211466"/>
            <a:ext cx="55689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739122" y="4690567"/>
            <a:ext cx="1136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120 строк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54664" y="5483473"/>
            <a:ext cx="25831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120 групп · 600 строк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47075" y="6022257"/>
            <a:ext cx="30473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корпус · разделение по group_id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2756" y="501663"/>
            <a:ext cx="95815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Каждому слову — своя координата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12328"/>
            <a:ext cx="415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9900" y="1812328"/>
            <a:ext cx="3209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 книга библиотека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244128"/>
            <a:ext cx="415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9900" y="2244128"/>
            <a:ext cx="2327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 продление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675928"/>
            <a:ext cx="415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9900" y="2675928"/>
            <a:ext cx="256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 оплата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31466" y="3630117"/>
            <a:ext cx="1374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54538" y="3630117"/>
            <a:ext cx="7023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19292" y="3630117"/>
            <a:ext cx="136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70533" y="3630117"/>
            <a:ext cx="8394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оплата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736138" y="3630117"/>
            <a:ext cx="12979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продление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94829" y="4018109"/>
            <a:ext cx="4425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678570" y="40181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0870" y="40181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63157" y="40181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55457" y="40181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247757" y="40181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194829" y="4500709"/>
            <a:ext cx="4425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678570" y="45007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0870" y="45007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63157" y="45007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355457" y="45007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0247757" y="45007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194829" y="4983309"/>
            <a:ext cx="4425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678570" y="49833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0870" y="49833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463157" y="49833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355457" y="49833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0247757" y="4983309"/>
            <a:ext cx="2692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188962" y="6022257"/>
            <a:ext cx="42024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пример · строки — документы, столбцы — слова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77777" y="501663"/>
            <a:ext cx="83356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TF и DF считают разные вещи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4366"/>
            <a:ext cx="26771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первом документе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914400" y="2863850"/>
            <a:ext cx="1651000" cy="6159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9878" y="2904331"/>
            <a:ext cx="10623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2717800" y="2863850"/>
            <a:ext cx="1651000" cy="6159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78" y="2904331"/>
            <a:ext cx="10623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14400" y="3623570"/>
            <a:ext cx="18840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4400" y="4586834"/>
            <a:ext cx="22885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TF = 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667500" y="2014366"/>
            <a:ext cx="24568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 всей коллекции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667500" y="2733923"/>
            <a:ext cx="3898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02500" y="2733078"/>
            <a:ext cx="3209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 книга библиотека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67500" y="3241923"/>
            <a:ext cx="3898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02500" y="3241078"/>
            <a:ext cx="2327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 продление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67500" y="3749923"/>
            <a:ext cx="3898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02500" y="3749078"/>
            <a:ext cx="256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 оплата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667500" y="4586834"/>
            <a:ext cx="239776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DF = 2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7652321" y="6022257"/>
            <a:ext cx="3738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пример · DF учитывает документ один раз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97633" y="501663"/>
            <a:ext cx="73171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Меньше DF — больше IDF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32832" y="1787773"/>
            <a:ext cx="203009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= 3 документа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25933" y="2367236"/>
            <a:ext cx="563499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40"/>
              </a:lnSpc>
              <a:buNone/>
            </a:pPr>
            <a:r>
              <a:rPr lang="en-US" sz="3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IDF = 1 + ln((1 + N) / (1 + DF))</a:t>
            </a:r>
            <a:endParaRPr lang="en-US" sz="3700" dirty="0"/>
          </a:p>
        </p:txBody>
      </p:sp>
      <p:sp>
        <p:nvSpPr>
          <p:cNvPr id="9" name="Text 7"/>
          <p:cNvSpPr/>
          <p:nvPr/>
        </p:nvSpPr>
        <p:spPr>
          <a:xfrm>
            <a:off x="2872778" y="3659981"/>
            <a:ext cx="10623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998915" y="4308723"/>
            <a:ext cx="80835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DF = 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15407" y="4758131"/>
            <a:ext cx="197612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5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1,2877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829931" y="3659981"/>
            <a:ext cx="213931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485315" y="4308723"/>
            <a:ext cx="80835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DF = 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01178" y="4758131"/>
            <a:ext cx="197739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5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1,6931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7583678" y="6022257"/>
            <a:ext cx="38144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scikit-learn · сглаженный IDF; натуральный логарифм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30795" y="501663"/>
            <a:ext cx="100380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Длина вектора становится единицей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89133" y="1818354"/>
            <a:ext cx="37376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Координаты: библиотека, книга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722040" y="2408631"/>
            <a:ext cx="48482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5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(1,6931; 2,5754)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6096000" y="3498850"/>
            <a:ext cx="0" cy="4572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038850" y="38354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6096000" y="38354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692900" y="3494754"/>
            <a:ext cx="22625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÷ евклидова длина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463106" y="4199331"/>
            <a:ext cx="539051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5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(0,5494; 0,8356)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777829" y="5298478"/>
            <a:ext cx="2736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0,5494² + 0,8356² ≈ 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56600" y="6022257"/>
            <a:ext cx="30321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Сумма координат не обязана равняться 1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48333" y="501663"/>
            <a:ext cx="86347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Побеждает наибольшая оценка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99573" y="1832870"/>
            <a:ext cx="4102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x: книга = 0,8; пароль = 0,1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20591" y="2431974"/>
            <a:ext cx="405384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Коэффициенты заданы вручную · b = 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405981"/>
            <a:ext cx="21412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24400" y="3400279"/>
            <a:ext cx="355219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× 0,8 − 0,1 = 1,5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14400" y="4491831"/>
            <a:ext cx="5607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24400" y="4486129"/>
            <a:ext cx="403352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−0,8 + 2 × 0,1 = −0,6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801926" y="6022257"/>
            <a:ext cx="25831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пример · s_c = w_cᵀx + b_c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71344" y="501663"/>
            <a:ext cx="7150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Softmax даёт вероятности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47516" y="1780381"/>
            <a:ext cx="44062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p(c) = exp(s_c) / Σ exp(s_j)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856059"/>
            <a:ext cx="17576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737100" y="2860923"/>
            <a:ext cx="8286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 = 1,5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58425" y="2853531"/>
            <a:ext cx="11201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89,1%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914400" y="3479800"/>
            <a:ext cx="6451600" cy="1905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30809"/>
            <a:ext cx="4743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37100" y="4035673"/>
            <a:ext cx="9677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 = −0,6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58425" y="4028281"/>
            <a:ext cx="11201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10,9%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914400" y="4654550"/>
            <a:ext cx="787400" cy="190500"/>
          </a:xfrm>
          <a:prstGeom prst="rect">
            <a:avLst/>
          </a:prstGeom>
          <a:solidFill>
            <a:srgbClr val="0070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34705" y="5508028"/>
            <a:ext cx="2223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0,891 + 0,109 = 1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36065" y="501663"/>
            <a:ext cx="90525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Уверенная ошибка стоит дороже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49431" y="1752130"/>
            <a:ext cx="21939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 = −ln(p_y)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1905000" y="5372100"/>
            <a:ext cx="8636000" cy="0"/>
          </a:xfrm>
          <a:prstGeom prst="line">
            <a:avLst/>
          </a:prstGeom>
          <a:noFill/>
          <a:ln w="12700">
            <a:solidFill>
              <a:srgbClr val="65706A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905000" y="2508250"/>
            <a:ext cx="0" cy="2863850"/>
          </a:xfrm>
          <a:prstGeom prst="line">
            <a:avLst/>
          </a:prstGeom>
          <a:noFill/>
          <a:ln w="12700">
            <a:solidFill>
              <a:srgbClr val="65706A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853508" y="5498706"/>
            <a:ext cx="204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4609" y="5498706"/>
            <a:ext cx="3581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89502" y="5498706"/>
            <a:ext cx="204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98809" y="4311256"/>
            <a:ext cx="204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98809" y="3390506"/>
            <a:ext cx="204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98809" y="2469756"/>
            <a:ext cx="2044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36800" y="2613781"/>
            <a:ext cx="86360" cy="167875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423160" y="2781656"/>
            <a:ext cx="86360" cy="14192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509520" y="2923584"/>
            <a:ext cx="86360" cy="12294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595880" y="3046533"/>
            <a:ext cx="86360" cy="108452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682240" y="3154985"/>
            <a:ext cx="86360" cy="9700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768600" y="3251994"/>
            <a:ext cx="86360" cy="8775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854960" y="3339751"/>
            <a:ext cx="86360" cy="80118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941320" y="3419869"/>
            <a:ext cx="86360" cy="73698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3027680" y="3493567"/>
            <a:ext cx="86360" cy="6823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3114040" y="3561804"/>
            <a:ext cx="86360" cy="63525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200400" y="3625329"/>
            <a:ext cx="86360" cy="59423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3286760" y="3684753"/>
            <a:ext cx="86360" cy="5581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3373120" y="3740569"/>
            <a:ext cx="86360" cy="5262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3459480" y="3793198"/>
            <a:ext cx="86360" cy="49784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3545840" y="3842982"/>
            <a:ext cx="86360" cy="47231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3632200" y="3890213"/>
            <a:ext cx="86360" cy="44920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3718560" y="3935133"/>
            <a:ext cx="86360" cy="4283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3804920" y="3977970"/>
            <a:ext cx="86360" cy="40926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3891280" y="4018896"/>
            <a:ext cx="86360" cy="39186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3977640" y="4058082"/>
            <a:ext cx="86360" cy="37586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4064000" y="4095667"/>
            <a:ext cx="86360" cy="36112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4150360" y="4131780"/>
            <a:ext cx="86360" cy="34754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236720" y="4166533"/>
            <a:ext cx="86360" cy="33484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323080" y="4200017"/>
            <a:ext cx="86360" cy="3230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409440" y="4232326"/>
            <a:ext cx="86360" cy="3121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4495800" y="4263542"/>
            <a:ext cx="86360" cy="30194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4582160" y="4293737"/>
            <a:ext cx="86360" cy="2922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4668520" y="4322966"/>
            <a:ext cx="86360" cy="28334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4754880" y="4351299"/>
            <a:ext cx="86360" cy="2748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4841240" y="4378789"/>
            <a:ext cx="86360" cy="2668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4927600" y="4405478"/>
            <a:ext cx="86360" cy="25940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5013960" y="4431417"/>
            <a:ext cx="86360" cy="25222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5100320" y="4456640"/>
            <a:ext cx="86360" cy="24555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5186680" y="4481195"/>
            <a:ext cx="86360" cy="23920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5273040" y="4505115"/>
            <a:ext cx="86360" cy="23311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5359400" y="4528426"/>
            <a:ext cx="86360" cy="22733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5445760" y="4551159"/>
            <a:ext cx="86360" cy="2218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5532120" y="4573346"/>
            <a:ext cx="86360" cy="21666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5618480" y="4595012"/>
            <a:ext cx="86360" cy="21171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5704840" y="4616183"/>
            <a:ext cx="86360" cy="20688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5791200" y="4636872"/>
            <a:ext cx="86360" cy="2023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5877560" y="4657109"/>
            <a:ext cx="86360" cy="19806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5963920" y="4676915"/>
            <a:ext cx="86360" cy="1938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050280" y="4696301"/>
            <a:ext cx="86360" cy="18980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6136640" y="4715281"/>
            <a:ext cx="86360" cy="18606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6223000" y="4733887"/>
            <a:ext cx="86360" cy="18231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6309360" y="4752118"/>
            <a:ext cx="86360" cy="17882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6395720" y="4769999"/>
            <a:ext cx="86360" cy="1753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6482080" y="4787538"/>
            <a:ext cx="86360" cy="1720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6568440" y="4804747"/>
            <a:ext cx="86360" cy="1689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6654800" y="4821644"/>
            <a:ext cx="86360" cy="16586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6741160" y="4838230"/>
            <a:ext cx="86360" cy="16300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6827520" y="4854531"/>
            <a:ext cx="86360" cy="16015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6913880" y="4870545"/>
            <a:ext cx="86360" cy="15735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7000240" y="4886281"/>
            <a:ext cx="86360" cy="15475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7086600" y="4901756"/>
            <a:ext cx="86360" cy="15221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7172960" y="4916976"/>
            <a:ext cx="86360" cy="14973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7259320" y="4931950"/>
            <a:ext cx="86360" cy="14732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7345680" y="4946682"/>
            <a:ext cx="86360" cy="1449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7432040" y="4961179"/>
            <a:ext cx="86360" cy="14281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7518400" y="4975460"/>
            <a:ext cx="86360" cy="14053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7604760" y="4989513"/>
            <a:ext cx="86360" cy="1384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7691120" y="5003362"/>
            <a:ext cx="86360" cy="13640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7777480" y="5017002"/>
            <a:ext cx="86360" cy="13443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7863840" y="5030445"/>
            <a:ext cx="86360" cy="13246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7950200" y="5043691"/>
            <a:ext cx="86360" cy="13062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8036560" y="5056753"/>
            <a:ext cx="86360" cy="12878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8122920" y="5069630"/>
            <a:ext cx="86360" cy="12700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8209280" y="5082330"/>
            <a:ext cx="86360" cy="1252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8295640" y="5094859"/>
            <a:ext cx="86360" cy="1235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8382000" y="5107216"/>
            <a:ext cx="86360" cy="12198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8468360" y="5119414"/>
            <a:ext cx="86360" cy="12033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8554720" y="5131448"/>
            <a:ext cx="86360" cy="11881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8641080" y="5143329"/>
            <a:ext cx="86360" cy="11728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8727440" y="5155057"/>
            <a:ext cx="86360" cy="11582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8813800" y="5166639"/>
            <a:ext cx="86360" cy="11443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8900160" y="5178082"/>
            <a:ext cx="86360" cy="1129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8986520" y="5189379"/>
            <a:ext cx="86360" cy="1115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9072880" y="5200536"/>
            <a:ext cx="86360" cy="11030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9159240" y="5211566"/>
            <a:ext cx="86360" cy="1089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9245600" y="5222462"/>
            <a:ext cx="86360" cy="10770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9331960" y="5233232"/>
            <a:ext cx="86360" cy="10643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9418320" y="5243874"/>
            <a:ext cx="86360" cy="10522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9504680" y="5254396"/>
            <a:ext cx="86360" cy="10408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9591040" y="5264804"/>
            <a:ext cx="86360" cy="1028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9677400" y="5275091"/>
            <a:ext cx="86360" cy="10173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9763760" y="5285264"/>
            <a:ext cx="86360" cy="10065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9850120" y="5295329"/>
            <a:ext cx="86360" cy="9950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9936480" y="5305279"/>
            <a:ext cx="86360" cy="984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5" name="Shape 103"/>
          <p:cNvSpPr/>
          <p:nvPr/>
        </p:nvSpPr>
        <p:spPr>
          <a:xfrm>
            <a:off x="10022840" y="5315128"/>
            <a:ext cx="86360" cy="974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10109200" y="5324875"/>
            <a:ext cx="86360" cy="963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10195560" y="5334514"/>
            <a:ext cx="86360" cy="9538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8" name="Shape 106"/>
          <p:cNvSpPr/>
          <p:nvPr/>
        </p:nvSpPr>
        <p:spPr>
          <a:xfrm>
            <a:off x="10281920" y="5344052"/>
            <a:ext cx="86360" cy="9449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9" name="Shape 107"/>
          <p:cNvSpPr/>
          <p:nvPr/>
        </p:nvSpPr>
        <p:spPr>
          <a:xfrm>
            <a:off x="10368280" y="5353501"/>
            <a:ext cx="86360" cy="9347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10454640" y="5362848"/>
            <a:ext cx="86360" cy="9252"/>
          </a:xfrm>
          <a:prstGeom prst="line">
            <a:avLst/>
          </a:prstGeom>
          <a:noFill/>
          <a:ln w="317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11" name="Shape 109"/>
          <p:cNvSpPr/>
          <p:nvPr/>
        </p:nvSpPr>
        <p:spPr>
          <a:xfrm>
            <a:off x="2724150" y="3207544"/>
            <a:ext cx="88900" cy="889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632950" y="5230641"/>
            <a:ext cx="88900" cy="889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397250" y="2729059"/>
            <a:ext cx="1320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p_y = 0,1</a:t>
            </a:r>
            <a:endParaRPr lang="en-US" sz="2600" dirty="0"/>
          </a:p>
        </p:txBody>
      </p:sp>
      <p:sp>
        <p:nvSpPr>
          <p:cNvPr id="114" name="Text 112"/>
          <p:cNvSpPr/>
          <p:nvPr/>
        </p:nvSpPr>
        <p:spPr>
          <a:xfrm>
            <a:off x="3397250" y="3122759"/>
            <a:ext cx="1308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 ≈ 2,303</a:t>
            </a:r>
            <a:endParaRPr lang="en-US" sz="2600" dirty="0"/>
          </a:p>
        </p:txBody>
      </p:sp>
      <p:sp>
        <p:nvSpPr>
          <p:cNvPr id="115" name="Text 113"/>
          <p:cNvSpPr/>
          <p:nvPr/>
        </p:nvSpPr>
        <p:spPr>
          <a:xfrm>
            <a:off x="7937500" y="4145109"/>
            <a:ext cx="1320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p_y = 0,9</a:t>
            </a:r>
            <a:endParaRPr lang="en-US" sz="2600" dirty="0"/>
          </a:p>
        </p:txBody>
      </p:sp>
      <p:sp>
        <p:nvSpPr>
          <p:cNvPr id="116" name="Text 114"/>
          <p:cNvSpPr/>
          <p:nvPr/>
        </p:nvSpPr>
        <p:spPr>
          <a:xfrm>
            <a:off x="7937500" y="4538809"/>
            <a:ext cx="1308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 ≈ 0,105</a:t>
            </a:r>
            <a:endParaRPr lang="en-US" sz="2600" dirty="0"/>
          </a:p>
        </p:txBody>
      </p:sp>
      <p:sp>
        <p:nvSpPr>
          <p:cNvPr id="117" name="Text 115"/>
          <p:cNvSpPr/>
          <p:nvPr/>
        </p:nvSpPr>
        <p:spPr>
          <a:xfrm>
            <a:off x="4204011" y="5803824"/>
            <a:ext cx="388747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Вероятность правильного класса p_y</a:t>
            </a:r>
            <a:endParaRPr lang="en-US" sz="1900" dirty="0"/>
          </a:p>
        </p:txBody>
      </p:sp>
      <p:sp>
        <p:nvSpPr>
          <p:cNvPr id="118" name="Text 116"/>
          <p:cNvSpPr/>
          <p:nvPr/>
        </p:nvSpPr>
        <p:spPr>
          <a:xfrm>
            <a:off x="914400" y="1968424"/>
            <a:ext cx="98933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Потеря L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20804" y="501663"/>
            <a:ext cx="74510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Новый вес — новая оценка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29361" y="1825028"/>
            <a:ext cx="4449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Правильный класс — библиотека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785370"/>
            <a:ext cx="19310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Вес «книги»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95880" y="2779141"/>
            <a:ext cx="352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761732" y="2780830"/>
            <a:ext cx="50419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9688322" y="2779141"/>
            <a:ext cx="727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2,1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3699770"/>
            <a:ext cx="1231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Оценка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08453" y="3693541"/>
            <a:ext cx="727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1,5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7761732" y="3695230"/>
            <a:ext cx="50419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9562783" y="3693541"/>
            <a:ext cx="977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1,58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14400" y="4614170"/>
            <a:ext cx="19856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Вероятность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57418" y="4607941"/>
            <a:ext cx="12287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0,891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7761732" y="4609630"/>
            <a:ext cx="50419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3500" dirty="0"/>
          </a:p>
        </p:txBody>
      </p:sp>
      <p:sp>
        <p:nvSpPr>
          <p:cNvPr id="19" name="Text 17"/>
          <p:cNvSpPr/>
          <p:nvPr/>
        </p:nvSpPr>
        <p:spPr>
          <a:xfrm>
            <a:off x="9437243" y="4607941"/>
            <a:ext cx="12287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0,898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6667056" y="6022257"/>
            <a:ext cx="47224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шаг · изменён один вес; остальные параметры прежние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45419" y="501663"/>
            <a:ext cx="94437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Регуляризация ограничивает веса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07421" y="1900066"/>
            <a:ext cx="328104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обучении учитываем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19511" y="2749925"/>
            <a:ext cx="341058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Логарифмическую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704981" y="3251575"/>
            <a:ext cx="285178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потерю на train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817197" y="2738831"/>
            <a:ext cx="4051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308850" y="2749925"/>
            <a:ext cx="34734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Штраф за большие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654671" y="3251575"/>
            <a:ext cx="27800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коэффициенты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767954" y="4692948"/>
            <a:ext cx="120078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5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 ↓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070814" y="4698333"/>
            <a:ext cx="59626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60"/>
              </a:lnSpc>
              <a:buNone/>
            </a:pPr>
            <a:r>
              <a:rPr lang="en-US" sz="4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4300" dirty="0"/>
          </a:p>
        </p:txBody>
      </p:sp>
      <p:sp>
        <p:nvSpPr>
          <p:cNvPr id="15" name="Text 13"/>
          <p:cNvSpPr/>
          <p:nvPr/>
        </p:nvSpPr>
        <p:spPr>
          <a:xfrm>
            <a:off x="5397500" y="4707731"/>
            <a:ext cx="263334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Более сильная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397500" y="5196681"/>
            <a:ext cx="26739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регуляризация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15760" y="6022257"/>
            <a:ext cx="4686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scikit-learn · LogisticRegression: C — обратная сила регуляризации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00707" y="501663"/>
            <a:ext cx="81019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Baseline задаёт точку отсчёта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01876" y="2218728"/>
            <a:ext cx="300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равных классов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70754" y="2812091"/>
            <a:ext cx="2665095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80"/>
              </a:lnSpc>
              <a:buNone/>
            </a:pPr>
            <a:r>
              <a:rPr lang="en-US" sz="79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16,7%</a:t>
            </a:r>
            <a:endParaRPr lang="en-US" sz="7900" dirty="0"/>
          </a:p>
        </p:txBody>
      </p:sp>
      <p:sp>
        <p:nvSpPr>
          <p:cNvPr id="9" name="Text 7"/>
          <p:cNvSpPr/>
          <p:nvPr/>
        </p:nvSpPr>
        <p:spPr>
          <a:xfrm>
            <a:off x="1839557" y="4375722"/>
            <a:ext cx="31635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Всегда одна категория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757795" y="2218728"/>
            <a:ext cx="22663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90% писем — ИТ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48207" y="2812091"/>
            <a:ext cx="2282825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80"/>
              </a:lnSpc>
              <a:buNone/>
            </a:pPr>
            <a:r>
              <a:rPr lang="en-US" sz="79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90%</a:t>
            </a:r>
            <a:endParaRPr lang="en-US" sz="7900" dirty="0"/>
          </a:p>
        </p:txBody>
      </p:sp>
      <p:sp>
        <p:nvSpPr>
          <p:cNvPr id="12" name="Text 10"/>
          <p:cNvSpPr/>
          <p:nvPr/>
        </p:nvSpPr>
        <p:spPr>
          <a:xfrm>
            <a:off x="8179562" y="4375722"/>
            <a:ext cx="14363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Всегда ИТ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092761" y="5402409"/>
            <a:ext cx="61385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Обе стратегии обходятся без чтения текста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26667" y="6022257"/>
            <a:ext cx="37699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Учебные распределения · доля правильных ответов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81149" y="501663"/>
            <a:ext cx="85464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Accuracy может скрыть провал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07840" y="1774228"/>
            <a:ext cx="35109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всегда отвечает 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79235" y="2427954"/>
            <a:ext cx="25755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Предсказанный класс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27200" y="3502273"/>
            <a:ext cx="129349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Истинный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27200" y="3838823"/>
            <a:ext cx="7442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02552" y="2934272"/>
            <a:ext cx="28511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502140" y="2934272"/>
            <a:ext cx="2743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546886" y="3385693"/>
            <a:ext cx="46926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472682" y="3385693"/>
            <a:ext cx="74549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90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427591" y="3385693"/>
            <a:ext cx="42354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4558049" y="4236593"/>
            <a:ext cx="44704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6472682" y="4236593"/>
            <a:ext cx="74549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427591" y="4236593"/>
            <a:ext cx="42354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914400" y="5452370"/>
            <a:ext cx="37268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 = 90 / 100 = 0,9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79561" y="5478609"/>
            <a:ext cx="27025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B: найдено 0 из 10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57426" y="501663"/>
            <a:ext cx="89947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Precision и recall считают разное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55948" y="1833709"/>
            <a:ext cx="41840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A: TP = 90, FP = 10, FN = 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63178" y="2536685"/>
            <a:ext cx="228727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Precision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125206" y="2536685"/>
            <a:ext cx="15367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Recall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498427" y="3386734"/>
            <a:ext cx="615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90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676400" y="4076700"/>
            <a:ext cx="2159000" cy="1905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69693" y="4116984"/>
            <a:ext cx="8731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178300" y="3781279"/>
            <a:ext cx="106108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0,9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984808" y="3386734"/>
            <a:ext cx="615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90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7162800" y="4076700"/>
            <a:ext cx="2159000" cy="1905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84808" y="4116984"/>
            <a:ext cx="615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652000" y="3781279"/>
            <a:ext cx="695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1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866341" y="5278266"/>
            <a:ext cx="308800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Среди предсказанных A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339203" y="5278266"/>
            <a:ext cx="31089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Среди всех настоящих A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5993" y="501663"/>
            <a:ext cx="93821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Macro-F1 даёт классам равный вес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20305" y="1825676"/>
            <a:ext cx="40525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F1 = 2TP / (2TP + FP + FN)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10960" y="2807271"/>
            <a:ext cx="7848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F1(A)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202263" y="3298615"/>
            <a:ext cx="245173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0"/>
              </a:lnSpc>
              <a:buNone/>
            </a:pPr>
            <a:r>
              <a:rPr lang="en-US" sz="57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0,9474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8502968" y="2807271"/>
            <a:ext cx="77406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F1(B)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587169" y="3298615"/>
            <a:ext cx="60515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0"/>
              </a:lnSpc>
              <a:buNone/>
            </a:pPr>
            <a:r>
              <a:rPr lang="en-US" sz="57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</a:t>
            </a:r>
            <a:endParaRPr lang="en-US" sz="5700" dirty="0"/>
          </a:p>
        </p:txBody>
      </p:sp>
      <p:sp>
        <p:nvSpPr>
          <p:cNvPr id="12" name="Shape 10"/>
          <p:cNvSpPr/>
          <p:nvPr/>
        </p:nvSpPr>
        <p:spPr>
          <a:xfrm>
            <a:off x="3810000" y="4191000"/>
            <a:ext cx="1765300" cy="311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5446560" y="4502150"/>
            <a:ext cx="128740" cy="35338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H="1" flipV="1">
            <a:off x="5466404" y="4424928"/>
            <a:ext cx="108896" cy="7722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>
            <a:off x="6616700" y="4191000"/>
            <a:ext cx="1955800" cy="311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>
            <a:off x="6616700" y="4426756"/>
            <a:ext cx="110172" cy="75394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616700" y="4502150"/>
            <a:ext cx="128143" cy="37484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3510299" y="4737271"/>
            <a:ext cx="527240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20"/>
              </a:lnSpc>
              <a:buNone/>
            </a:pPr>
            <a:r>
              <a:rPr lang="en-US" sz="4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(0,9474 + 0) / 2 ≈ 0,4737</a:t>
            </a:r>
            <a:endParaRPr lang="en-US" sz="4100" dirty="0"/>
          </a:p>
        </p:txBody>
      </p:sp>
      <p:sp>
        <p:nvSpPr>
          <p:cNvPr id="19" name="Text 17"/>
          <p:cNvSpPr/>
          <p:nvPr/>
        </p:nvSpPr>
        <p:spPr>
          <a:xfrm>
            <a:off x="4125519" y="5647728"/>
            <a:ext cx="40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 тех же ответов accuracy = 0,9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79810" y="501663"/>
            <a:ext cx="91433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Словоформы имеют общие части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95179" y="2229790"/>
            <a:ext cx="45466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5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2457228" y="2229790"/>
            <a:ext cx="153924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58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9391269" y="2229790"/>
            <a:ext cx="43497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5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7953312" y="2229790"/>
            <a:ext cx="153924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58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</a:t>
            </a:r>
            <a:endParaRPr lang="en-US" sz="5800" dirty="0"/>
          </a:p>
        </p:txBody>
      </p:sp>
      <p:sp>
        <p:nvSpPr>
          <p:cNvPr id="11" name="Shape 9"/>
          <p:cNvSpPr/>
          <p:nvPr/>
        </p:nvSpPr>
        <p:spPr>
          <a:xfrm>
            <a:off x="3683000" y="3429000"/>
            <a:ext cx="1701800" cy="8953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251418" y="4318749"/>
            <a:ext cx="133382" cy="5601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H="1" flipV="1">
            <a:off x="5304638" y="4217594"/>
            <a:ext cx="80162" cy="10675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H="1">
            <a:off x="6807200" y="3429000"/>
            <a:ext cx="1701800" cy="8953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>
            <a:off x="6807200" y="4217594"/>
            <a:ext cx="80137" cy="10675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6807200" y="4318749"/>
            <a:ext cx="133413" cy="5601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482768" y="3749923"/>
            <a:ext cx="132778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Например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0" y="4610100"/>
            <a:ext cx="1905000" cy="6921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5471" y="4646886"/>
            <a:ext cx="82486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40"/>
              </a:lnSpc>
              <a:buNone/>
            </a:pPr>
            <a:r>
              <a:rPr lang="en-US" sz="3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</a:t>
            </a:r>
            <a:endParaRPr lang="en-US" sz="3700" dirty="0"/>
          </a:p>
        </p:txBody>
      </p:sp>
      <p:sp>
        <p:nvSpPr>
          <p:cNvPr id="20" name="Shape 18"/>
          <p:cNvSpPr/>
          <p:nvPr/>
        </p:nvSpPr>
        <p:spPr>
          <a:xfrm>
            <a:off x="6172200" y="4610100"/>
            <a:ext cx="1905000" cy="6921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0627" y="4646886"/>
            <a:ext cx="76962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40"/>
              </a:lnSpc>
              <a:buNone/>
            </a:pPr>
            <a:r>
              <a:rPr lang="en-US" sz="3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ниг</a:t>
            </a:r>
            <a:endParaRPr lang="en-US" sz="3700" dirty="0"/>
          </a:p>
        </p:txBody>
      </p:sp>
      <p:sp>
        <p:nvSpPr>
          <p:cNvPr id="22" name="Text 20"/>
          <p:cNvSpPr/>
          <p:nvPr/>
        </p:nvSpPr>
        <p:spPr>
          <a:xfrm>
            <a:off x="3502044" y="5640216"/>
            <a:ext cx="528701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char_wb · длины 3–5 · внутри границ слов</a:t>
            </a:r>
            <a:endParaRPr lang="en-US" sz="2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53677" y="501663"/>
            <a:ext cx="63900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Выбираем по validation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53668" y="1808309"/>
            <a:ext cx="31991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Macro-F1 на validation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90444" y="2577630"/>
            <a:ext cx="122491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Слова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968900" y="3310604"/>
            <a:ext cx="28771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Униграммы и биграммы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093265" y="3767157"/>
            <a:ext cx="26352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63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0,4120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7968869" y="2577630"/>
            <a:ext cx="184848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Символы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7700264" y="3310604"/>
            <a:ext cx="23787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char_wb, длины 3–5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522655" y="3767157"/>
            <a:ext cx="276479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63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0,7430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2754065" y="5438178"/>
            <a:ext cx="6830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Одинаковый train и алгоритм · отдельное обучение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92873" y="6022257"/>
            <a:ext cx="38995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Выполненная лабораторная L02 · validation: 120 строк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88866" y="501663"/>
            <a:ext cx="101371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Pipeline сохраняет порядок действий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51704"/>
            <a:ext cx="12185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443632"/>
            <a:ext cx="1968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Тексты train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14400" y="3007817"/>
            <a:ext cx="5886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94200" y="2439613"/>
            <a:ext cx="11169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4394200" y="3030366"/>
            <a:ext cx="355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874000" y="2443632"/>
            <a:ext cx="24841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Классификатор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874000" y="3004966"/>
            <a:ext cx="9550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fit(X, y)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3765550" y="2768600"/>
            <a:ext cx="40005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044950" y="2768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4044950" y="27114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245350" y="2768600"/>
            <a:ext cx="40005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7524750" y="2768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 flipV="1">
            <a:off x="7524750" y="27114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14400" y="4059904"/>
            <a:ext cx="15601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Применение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" y="4551832"/>
            <a:ext cx="2254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тексты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914400" y="5116017"/>
            <a:ext cx="17297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/ test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394200" y="4547813"/>
            <a:ext cx="11169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endParaRPr lang="en-US" sz="3100" dirty="0"/>
          </a:p>
        </p:txBody>
      </p:sp>
      <p:sp>
        <p:nvSpPr>
          <p:cNvPr id="24" name="Text 22"/>
          <p:cNvSpPr/>
          <p:nvPr/>
        </p:nvSpPr>
        <p:spPr>
          <a:xfrm>
            <a:off x="4394200" y="5138566"/>
            <a:ext cx="128651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7874000" y="4551832"/>
            <a:ext cx="24841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Классификатор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7874000" y="5113166"/>
            <a:ext cx="944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</a:t>
            </a:r>
            <a:endParaRPr lang="en-US" sz="2300" dirty="0"/>
          </a:p>
        </p:txBody>
      </p:sp>
      <p:sp>
        <p:nvSpPr>
          <p:cNvPr id="27" name="Shape 25"/>
          <p:cNvSpPr/>
          <p:nvPr/>
        </p:nvSpPr>
        <p:spPr>
          <a:xfrm>
            <a:off x="3765550" y="4876800"/>
            <a:ext cx="40005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flipV="1">
            <a:off x="4044950" y="48768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flipH="1" flipV="1">
            <a:off x="4044950" y="48196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7245350" y="4876800"/>
            <a:ext cx="40005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 flipV="1">
            <a:off x="7524750" y="48768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 flipH="1" flipV="1">
            <a:off x="7524750" y="48196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5888793" y="6022257"/>
            <a:ext cx="55073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 — верные метки train · predict использует сохранённые словарь, IDF и веса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7347" y="501663"/>
            <a:ext cx="60883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Сначала split, затем fit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19116"/>
            <a:ext cx="74853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Ошибка: сначала обучили преобразователь на всех текстах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452637"/>
            <a:ext cx="20510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тексты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35500" y="2452637"/>
            <a:ext cx="168783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 TF-IDF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864600" y="2452637"/>
            <a:ext cx="84010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3172073"/>
            <a:ext cx="409638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Словарь и IDF уже учитывают test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62400" y="2755900"/>
            <a:ext cx="5080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4349750" y="27559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H="1" flipV="1">
            <a:off x="4349750" y="2698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191500" y="2755900"/>
            <a:ext cx="5080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8578850" y="27559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8578850" y="2698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14400" y="4287666"/>
            <a:ext cx="535051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Сначала отделяем проверочные ситуации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14400" y="4821187"/>
            <a:ext cx="300863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по группам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048500" y="4821187"/>
            <a:ext cx="32829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 только на train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5334000" y="5124450"/>
            <a:ext cx="14605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6673850" y="51244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H="1" flipV="1">
            <a:off x="6673850" y="50673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495538" y="6022257"/>
            <a:ext cx="29133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Отложенные тексты проходят transform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89449" y="501663"/>
            <a:ext cx="9113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На тесте верны 95 ответов из 120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7335" y="1842071"/>
            <a:ext cx="5762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 char_wb + логистическая регрессия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059038" y="2758478"/>
            <a:ext cx="2691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Правильные ответы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04874" y="3314421"/>
            <a:ext cx="379476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0"/>
              </a:lnSpc>
              <a:buNone/>
            </a:pPr>
            <a:r>
              <a:rPr lang="en-US" sz="76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95 / 120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2306987" y="4790478"/>
            <a:ext cx="2198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 ≈ 0,792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46110" y="2758478"/>
            <a:ext cx="1291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Macro-F1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553071" y="3314421"/>
            <a:ext cx="269113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0"/>
              </a:lnSpc>
              <a:buNone/>
            </a:pPr>
            <a:r>
              <a:rPr lang="en-US" sz="76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0,765</a:t>
            </a:r>
            <a:endParaRPr lang="en-US" sz="7600" dirty="0"/>
          </a:p>
        </p:txBody>
      </p:sp>
      <p:sp>
        <p:nvSpPr>
          <p:cNvPr id="13" name="Text 11"/>
          <p:cNvSpPr/>
          <p:nvPr/>
        </p:nvSpPr>
        <p:spPr>
          <a:xfrm>
            <a:off x="7389178" y="4790478"/>
            <a:ext cx="301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 исходные ситуации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34957" y="6022257"/>
            <a:ext cx="5172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Выполненная лабораторная L02 · выбранный вариант, отложенный test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2919" y="501663"/>
            <a:ext cx="102019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Число метрики не объясняет ошибку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99284"/>
            <a:ext cx="35534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могу найти 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2808884"/>
            <a:ext cx="732980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списке доступной литературы.»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69194" y="2199284"/>
            <a:ext cx="299847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монографию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4136104"/>
            <a:ext cx="21075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Верная категория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594079"/>
            <a:ext cx="252349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0" y="4136104"/>
            <a:ext cx="16878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Ответ модели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00800" y="4594079"/>
            <a:ext cx="64643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68573" y="5495328"/>
            <a:ext cx="557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Какие признаки могли повлиять на ответ?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63779" y="6022257"/>
            <a:ext cx="4537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корпус · точная строка из ошибок выбранной модели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83480" y="501663"/>
            <a:ext cx="87420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Одна просьба — разные ответы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761528"/>
            <a:ext cx="43376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Верная категория — библиотека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475382"/>
            <a:ext cx="51231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«Мне нужна помощь в подборе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14400" y="2919882"/>
            <a:ext cx="43719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источников для курсовой.»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826500" y="2631929"/>
            <a:ext cx="64643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7937500" y="2870200"/>
            <a:ext cx="5715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8388350" y="28702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H="1" flipV="1">
            <a:off x="8388350" y="28130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4139082"/>
            <a:ext cx="29019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3361582" y="4139082"/>
            <a:ext cx="33153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Мне нужна помощь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914400" y="4583582"/>
            <a:ext cx="60744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подборе источников для курсовой.»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1103224" y="4139082"/>
            <a:ext cx="236410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Здравствуйте!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8826500" y="4148931"/>
            <a:ext cx="16325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826500" y="4637881"/>
            <a:ext cx="150749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процесс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7937500" y="4559300"/>
            <a:ext cx="5715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8388350" y="45593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H="1" flipV="1">
            <a:off x="8388350" y="45021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3217647" y="5519566"/>
            <a:ext cx="5876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проверить устойчивость к формулировке?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6080817" y="6022257"/>
            <a:ext cx="53295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library-20 · все пять ошибочны: один ответ ИТ, четыре — учебный процесс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Классификация текста</dc:title>
  <dc:subject>Классификация текста</dc:subject>
  <dc:creator>Курс СИИ · NLP</dc:creator>
  <cp:lastModifiedBy>Курс СИИ · NLP</cp:lastModifiedBy>
  <cp:revision>1</cp:revision>
  <dcterms:created xsi:type="dcterms:W3CDTF">2026-09-08T15:47:05Z</dcterms:created>
  <dcterms:modified xsi:type="dcterms:W3CDTF">2026-09-08T15:47:05Z</dcterms:modified>
</cp:coreProperties>
</file>