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L05-S01
- Начать с идеи: новое представление позиции объединяет информацию из доступного окружения.
- Веса определяют вклад доступных позиций.
- Сегодня разберём, как позиция может использовать информацию из окружения.
Фрагмент лекции: Механизм attention позволяет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L05-S01
- Проследить раннюю деталь в длинном обращении.
- RNN передаёт состояние по цепочке.
- Attention позволяет сравнивать запрос с доступными ключами, в том числе удалёнными по позиции; вес ещё предстоит вычислить.
Фрагмент лекции: Представим длинное обращение.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L05-S02
- Показать общий вход и три отдельные обучаемые проекции.
- Строка соответствует позиции.
- Q и K имеют совместимую ширину; V может иметь другую.
Фрагмент лекции: Пусть вход представлен матрицей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L05-S02
- Для устного примера подставить N=2 и M=3 в показанные общие размерности.
- Сначала получается таблица 2×3, затем умножение на три значения даёт два выходных вектора.
- Число запросов и ключей может различаться.
Фрагмент лекции: Запрос и ключ должны иметь одинаковую размерность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- Первый запрос q₁=(1;0).
- Его скалярные произведения с ключами равны 1 и 0.
- Значения V пока не участвуют.
- На слайде оценки уже разделены на √2; далее применим softmax.
Фрагмент лекции: В scaled dot-product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- После деления оценок на √2 уже получены 0,7071 и 0.
- После softmax веса равны 0,6698 и 0,3302, их сумма — 1.
- Нулевая оценка не означает нулевого веса.
Фрагмент лекции: Теперь softmax.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- Умножить каждое значение на его вес.
- Получить (6,6976;0) и (0;6,6048), затем сложить координаты.
- У меньшего веса может быть заметный вклад, если само значение больше.
Фрагмент лекции: Новое значение для первой позиции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L05-S03
- Каждая строка A относится к своему запросу.
- В нашем симметричном примере веса меняются местами.
- Умножение A на V даёт по новому вектору для каждой позиции; общего требования симметрии нет.
Фрагмент лекции: Для второго запроса в нашем примере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- Заменить оценку будущего ключа на −∞ до softmax.
- Exp(−∞)=0: первая строка весов становится (1;0).
- Это результат применения маски, сама маска задаёт доступность.
- Затем предложить вопрос следующего слайда.
Фрагмент лекции: До сих пор каждый запрос мог обращаться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- Остановиться на вопросе.
- Обсудить, какие величины изменились: только V₂; Q, K, V₁ и маска прежние.
- Попросить предсказать первый выход.
- Ответ показывается следующим кадром.
Фрагмент лекции: Проверим понимание.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- Сопоставить ответ с предыдущим кадром: доступность ключей осталась прежней.
- Вклад V₂′ равен нулю, поэтому o₁=V₁=(10;0).
- Это проверка применения маски, которую затем воспроизводим в коде.
Фрагмент лекции: При корректной маске выход первой позиции не меняется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- Сопоставить ключ позиции текста и ключ заполнителя PAD.
- Для позиции текста указано True, для заполнителя PAD — False.
- Маска ограничивает ключи; обработка выходов padding-позиций — отдельный вопрос.
Фрагмент лекции: Другой вид маски нужен для padding.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L05-S04
- Попросить восстановить знаменатель softmax.
- Все экспоненты нулевые, поэтому нормировка не определена.
- В лабораторной такой вход вызывает ValueError.
Фрагмент лекции: Что произойдёт, если в строке закрыть все ключи?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L05-S05
- Сопоставить две части равенства: перестановку входных строк и ту же перестановку выходных.
- Маски и позиции отсутствуют.
- После одинаковой перестановки строк выходы меняют порядок таким же образом.
Фрагмент лекции: Для следующего опыта временно уберём маски: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L05-S05
- Сравнить перемещение содержимого и фиксированные позиционные значения.
- X меняется по порядку, P сохраняется по местам.
- Это уже другое изменение входа, чем перестановка X+P целиком.
Фрагмент лекции: Один из способов — добавить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L05-S06
- Объяснить параллельные обучаемые преобразования.
- Каждая голова получает общий X, но строит собственные Q/K/V и веса.
- Предметные роли голов заранее не назначаются.
Фрагмент лекции: Одна голова attention использует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L05-S06
- Проследить, что координаты выходов голов записываются одна за другой, а не усредняются.
- Для устного примера возьмём три головы по две координаты: получится шесть координат одной позиции.
- W_O возвращает нужную ширину.
Фрагмент лекции: Для каждой головы вычисляются свои Q, K, 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L05-S07
- Найти слагаемые X и H: они сохраняют вход соответствующего подблока.
- Здесь pre-norm: LayerNorm перед attention и FFN.
- Attention включает выходную проекцию, поэтому размерность совместима с X.
Фрагмент лекции: Attention — часть блока,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L05-S08
- Это схемы доступности, не численные веса.
- Энкодер может обращаться к левому и правому окружению; причинный декодер использует префикс.
- В обоих случаях padding закрывается отдельно.
Фрагмент лекции: Энкодер обрабатывает доступную последовательность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L05-S08
- Различить происхождение Q и K/V.
- Энкодер обрабатывает исходную последовательность.
- Декодер формирует запрос по своему состоянию и обращается к представлениям источника.
Фрагмент лекции: В encoder-decoder архитектуре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L05-S09
- Сопоставить увеличение стороны в четыре раза с ростом площади в шестнадцать. 4/64 MiB относятся к одной полной матрице float32; весь расход реализации может отличаться.
Фрагмент лекции: Если N запросов сравниваются с N ключами,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L05-S09
- Два набора нормированных весов смешивают одинаковые значения.
- Оба дают (1;2).
- Поэтому карта A не определяет содержательную важность без V и дальнейшего вычисления.
Фрагмент лекции: Есть и другой важный вопрос: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L05-S10
- Связать каждую проверку с разобранной операцией: строковая нормировка, запрет ключа и изменение будущего значения.
- Студенты должны объяснить ожидаемый результат до выполнения кода.
Фрагмент лекции: В лабораторной мы реализуем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L05-S10
- Завершить вопросом о происхождении проекций.
- Сегодня числа были заданы вручную; в предобученном энкодере параметры уже получены на данных.
- Механизм внимания остаётся тем же.
Фрагмент лекции: На следующем занятии вместо маленьких матриц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46118" y="1488034"/>
            <a:ext cx="380111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Внимание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22078" y="2338934"/>
            <a:ext cx="510921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 Transformer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8554" y="3814070"/>
            <a:ext cx="42532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одна позиция получает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049909" y="4239520"/>
            <a:ext cx="41935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информацию от остальных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36375" y="501663"/>
            <a:ext cx="82194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Нужная деталь бывает далеко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08958" y="1773066"/>
            <a:ext cx="44932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Части одного длинного обращения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50645" y="2771826"/>
            <a:ext cx="20643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78438" y="3416224"/>
            <a:ext cx="10039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начале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79518" y="2771826"/>
            <a:ext cx="2550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Попытки входа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12778" y="3416224"/>
            <a:ext cx="12706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середине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804529" y="2771826"/>
            <a:ext cx="20294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делать?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362186" y="3416224"/>
            <a:ext cx="9061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конце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408947" y="5647404"/>
            <a:ext cx="5486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ответа может понадобиться ранняя деталь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8790" y="501663"/>
            <a:ext cx="63004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Из X получаем Q, K и V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04765" y="3201143"/>
            <a:ext cx="5365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912569" y="4427366"/>
            <a:ext cx="721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× 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143500" y="1939779"/>
            <a:ext cx="21297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 = XW_Q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143500" y="2581523"/>
            <a:ext cx="111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 flipV="1">
            <a:off x="3073400" y="2247900"/>
            <a:ext cx="1714500" cy="1498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734668" y="2247900"/>
            <a:ext cx="53232" cy="12242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>
            <a:off x="4659446" y="2247900"/>
            <a:ext cx="128454" cy="3637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143500" y="3368529"/>
            <a:ext cx="198247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 = XW_K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143500" y="4010273"/>
            <a:ext cx="8801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 flipV="1">
            <a:off x="3073400" y="3676650"/>
            <a:ext cx="1714500" cy="69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4669676" y="3676650"/>
            <a:ext cx="118224" cy="6201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4665021" y="3624459"/>
            <a:ext cx="122879" cy="5219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143500" y="4797279"/>
            <a:ext cx="20281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 = XW_V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143500" y="5439023"/>
            <a:ext cx="12198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Значения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073400" y="3746500"/>
            <a:ext cx="1714500" cy="1358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657852" y="5075244"/>
            <a:ext cx="130048" cy="3015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4728845" y="4985671"/>
            <a:ext cx="59055" cy="11972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512175" y="6034957"/>
            <a:ext cx="28962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обучаемые проекции одного входа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03000" y="501663"/>
            <a:ext cx="892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Размеры подсказывают порядок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76654" y="2408904"/>
            <a:ext cx="11169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Матрица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25962" y="2408904"/>
            <a:ext cx="933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Размер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7943" y="2408904"/>
            <a:ext cx="6407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81860" y="2815628"/>
            <a:ext cx="306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3238" y="2815628"/>
            <a:ext cx="103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× d_k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02511" y="2815628"/>
            <a:ext cx="1203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05222" y="3272828"/>
            <a:ext cx="259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41241" y="3272828"/>
            <a:ext cx="110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 × d_k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29066" y="3272828"/>
            <a:ext cx="94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97932" y="37300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41691" y="3730028"/>
            <a:ext cx="1101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 × d_v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43011" y="3730028"/>
            <a:ext cx="1322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Значения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58035" y="4187228"/>
            <a:ext cx="55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QKᵀ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8190" y="4187228"/>
            <a:ext cx="848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× 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61743" y="4187228"/>
            <a:ext cx="128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пары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16227" y="4644428"/>
            <a:ext cx="450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3689" y="4644428"/>
            <a:ext cx="1038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× d_v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17892" y="4644428"/>
            <a:ext cx="298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Новые представления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346052" y="5647404"/>
            <a:ext cx="76269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Размерности Q и K согласованы; размерность V может отличаться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62796" y="501663"/>
            <a:ext cx="63950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Два запроса, два ключа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57108" y="1773066"/>
            <a:ext cx="21786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 = K = I₂; d_k = 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330837" y="2397373"/>
            <a:ext cx="21443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Запросы и ключи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55824" y="2913336"/>
            <a:ext cx="10941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(1; 0)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2855824" y="3668986"/>
            <a:ext cx="10941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(0; 1)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8168640" y="2397373"/>
            <a:ext cx="1441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Значения V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92097" y="2916187"/>
            <a:ext cx="19958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V₁ = (10; 0)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872730" y="3627387"/>
            <a:ext cx="20345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V₂ = (0; 20)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062548" y="5647404"/>
            <a:ext cx="6173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q₁: оценки после деления на √2 равны (0,7071; 0)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61679" y="501663"/>
            <a:ext cx="7596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Из оценок получаются веса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1000" y="2348382"/>
            <a:ext cx="47409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exp(0,7071) ≈ 2,028; exp(0) = 1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2899956" y="3264275"/>
            <a:ext cx="650938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softmax(0,7071; 0) ≈ (0,6698; 0,3302)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455916" y="4462932"/>
            <a:ext cx="338201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весов равна 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778002" y="5647404"/>
            <a:ext cx="47580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Нулевая оценка не означает нулевой вес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9898" y="501663"/>
            <a:ext cx="77666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Выход — взвешенная сумма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751" y="2348382"/>
            <a:ext cx="75628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вес умножается на соответствующий V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319069" y="3266281"/>
            <a:ext cx="56508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0,6698 × (10; 0) + 0,3302 × (0; 20)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983717" y="4455541"/>
            <a:ext cx="432244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O₁ ≈ (6,6976; 6,6048)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978331" y="6034957"/>
            <a:ext cx="34264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 рассчитан с неокруглёнными весами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63539" y="501663"/>
            <a:ext cx="69818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Расчёт для всех запросов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3119" y="2408904"/>
            <a:ext cx="8883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86238" y="2408904"/>
            <a:ext cx="8343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95792" y="2408904"/>
            <a:ext cx="10655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 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58823" y="2815628"/>
            <a:ext cx="33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6455" y="2815628"/>
            <a:ext cx="213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(0,6698; 0,3302)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6042" y="2815628"/>
            <a:ext cx="213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(6,6976; 6,6048)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45133" y="3272828"/>
            <a:ext cx="363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36455" y="3272828"/>
            <a:ext cx="213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(0,3302; 0,6698)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78826" y="3272828"/>
            <a:ext cx="2287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(3,3024; 13,3952)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12477" y="5647404"/>
            <a:ext cx="5310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строка нормируется отдельно; O = AV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281224" y="6034957"/>
            <a:ext cx="21088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округлены для показа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7715" y="501663"/>
            <a:ext cx="77400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Будущее закрыто до softmax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28754" y="1773066"/>
            <a:ext cx="72447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Причинная маска · недоступные оценки заменены на −∞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68787" y="2206873"/>
            <a:ext cx="933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18262" y="2206873"/>
            <a:ext cx="933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 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73500" y="2806700"/>
            <a:ext cx="2222500" cy="81915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1759" y="2948781"/>
            <a:ext cx="3073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6223000" y="2806700"/>
            <a:ext cx="2222500" cy="8191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1253" y="2948781"/>
            <a:ext cx="3073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873500" y="3714750"/>
            <a:ext cx="2222500" cy="819150"/>
          </a:xfrm>
          <a:prstGeom prst="rect">
            <a:avLst/>
          </a:prstGeom>
          <a:solidFill>
            <a:srgbClr val="A6D7C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9003" y="385683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0,3302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223000" y="3714750"/>
            <a:ext cx="2222500" cy="819150"/>
          </a:xfrm>
          <a:prstGeom prst="rect">
            <a:avLst/>
          </a:prstGeom>
          <a:solidFill>
            <a:srgbClr val="61B89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8529" y="3856831"/>
            <a:ext cx="1231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0,6698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33500" y="3012478"/>
            <a:ext cx="1223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 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33500" y="3920528"/>
            <a:ext cx="1223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 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26794" y="4961731"/>
            <a:ext cx="26396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O₁ = V₁ = (10; 0)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621907" y="6034957"/>
            <a:ext cx="47713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 A после softmax · первая позиция не использует второй ключ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06676" y="501663"/>
            <a:ext cx="84899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изменится при замене V2?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80880" y="2348382"/>
            <a:ext cx="572706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Q, K, V₁ и маска остаются прежними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81157" y="3256883"/>
            <a:ext cx="313372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Изменяем V₂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4720628" y="4462932"/>
            <a:ext cx="28543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Изменится ли O₁?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633576" y="5647404"/>
            <a:ext cx="3024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 первой строки: (1; 0)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92140" y="501663"/>
            <a:ext cx="77501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Ранний выход не изменился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98456" y="2348382"/>
            <a:ext cx="49041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Причинная маска сохранилась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063594" y="3256883"/>
            <a:ext cx="416179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O₁ = 1 × V₁ + 0 × V₂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4040854" y="4462932"/>
            <a:ext cx="421449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O₁ остаётся равным (10; 0)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897943" y="5647404"/>
            <a:ext cx="6521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Изменение закрытого значения не влияет на этот выход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93925" y="501663"/>
            <a:ext cx="83572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Padding исключаем из ключей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76302" y="1773066"/>
            <a:ext cx="61614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True означает доступный ключ в нашей функции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790144" y="2408904"/>
            <a:ext cx="6997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48510" y="2408904"/>
            <a:ext cx="13468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Разрешён?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47804" y="2809926"/>
            <a:ext cx="2589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Позиция текста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928481" y="2809926"/>
            <a:ext cx="809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03627" y="3356026"/>
            <a:ext cx="29152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Заполнитель PAD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83841" y="3356026"/>
            <a:ext cx="885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185611" y="5647404"/>
            <a:ext cx="5945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Padding не используется как источник информации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595108" y="6034957"/>
            <a:ext cx="3803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Соглашение о булевой маске зависит от интерфейса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23953" y="501663"/>
            <a:ext cx="70872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Когда все ключи закрыты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52393" y="2348382"/>
            <a:ext cx="459041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оценки строки: (−∞; −∞)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5930" y="3256883"/>
            <a:ext cx="223901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/ (0 + 0)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3894830" y="4462932"/>
            <a:ext cx="452310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Нормировка не определена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784124" y="5647404"/>
            <a:ext cx="47313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Учебная функция отклоняет такую маску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16074" y="501663"/>
            <a:ext cx="8153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Перестановка входа и выхода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8217" y="2348382"/>
            <a:ext cx="689483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позиционной информации и без масок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263290" y="3262586"/>
            <a:ext cx="58451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40"/>
              </a:lnSpc>
              <a:buNone/>
            </a:pPr>
            <a:r>
              <a:rPr lang="en-US" sz="3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Attention(ΠX) = ΠAttention(X)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3369710" y="4463777"/>
            <a:ext cx="556958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Π — одна и та же перестановка строк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834778" y="5647404"/>
            <a:ext cx="4653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Выходные строки следуют за входными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54104" y="501663"/>
            <a:ext cx="80041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Позиции остаются на местах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70770" y="2348382"/>
            <a:ext cx="51828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Содержимое токена и его место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123523" y="3256883"/>
            <a:ext cx="204343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 = X + P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2666556" y="4466628"/>
            <a:ext cx="6975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Переставляем токены; позиции оставляем на местах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46525" y="5647404"/>
            <a:ext cx="42506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Теперь результат может измениться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18107" y="501663"/>
            <a:ext cx="88747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каждой головы свои проекции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10893" y="1773066"/>
            <a:ext cx="22910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исходный X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855252" y="2397373"/>
            <a:ext cx="11315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Голова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10754" y="2918720"/>
            <a:ext cx="33674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Свои W_Q, W_K, W_V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43970" y="3534670"/>
            <a:ext cx="2517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Свои сравнения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41678" y="2397373"/>
            <a:ext cx="11315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Голова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33578" y="2918720"/>
            <a:ext cx="36969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Другие W_Q, W_K, W_V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66838" y="3534670"/>
            <a:ext cx="28473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Другие сравнения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45929" y="5647404"/>
            <a:ext cx="54184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Языковая роль головы заранее не назначается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75980" y="501663"/>
            <a:ext cx="80257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Соединяем результаты голов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283" y="2771826"/>
            <a:ext cx="2390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Выходы голов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80909" y="3416224"/>
            <a:ext cx="1800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Каждый: N × d_v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59325" y="2771826"/>
            <a:ext cx="238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Конкатенация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58142" y="3416224"/>
            <a:ext cx="11766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× (h·d_v)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29384" y="2771826"/>
            <a:ext cx="2565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Проекция W_O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17128" y="3416224"/>
            <a:ext cx="26015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Нужная ширина модели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2407260" y="5647404"/>
            <a:ext cx="7519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Конкатенация соединяет координаты; она не суммирует выходы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5089" y="501663"/>
            <a:ext cx="72250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Внутри блока Transformer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88217" y="1773066"/>
            <a:ext cx="23196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Вариант pre-norm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315202" y="2609215"/>
            <a:ext cx="570738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35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 = X + Attention(LayerNorm(X))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3775970" y="4457065"/>
            <a:ext cx="47498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35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 = H + FFN(LayerNorm(H))</a:t>
            </a:r>
            <a:endParaRPr lang="en-US" sz="3350" dirty="0"/>
          </a:p>
        </p:txBody>
      </p:sp>
      <p:sp>
        <p:nvSpPr>
          <p:cNvPr id="10" name="Text 8"/>
          <p:cNvSpPr/>
          <p:nvPr/>
        </p:nvSpPr>
        <p:spPr>
          <a:xfrm>
            <a:off x="2558186" y="5647404"/>
            <a:ext cx="72193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включает объединение голов и выходную проекцию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36701" y="6034957"/>
            <a:ext cx="37604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Показан один из вариантов размещения LayerNorm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65274" y="501663"/>
            <a:ext cx="83731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Разная доступность контекста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48978" y="2397373"/>
            <a:ext cx="11226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Энкодер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52935" y="2733923"/>
            <a:ext cx="19024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(пример: BERT)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45976" y="3252413"/>
            <a:ext cx="2712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Левое и правое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2425065" y="3722313"/>
            <a:ext cx="19634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окружение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328152" y="2397373"/>
            <a:ext cx="11391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Декодер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74915" y="2733923"/>
            <a:ext cx="26320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(авторегрессионный)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24979" y="3252413"/>
            <a:ext cx="3181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доступный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8133524" y="3722313"/>
            <a:ext cx="15170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префикс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116332" y="5647404"/>
            <a:ext cx="610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Позиции PAD отдельно исключаются маской ключей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9377" y="501663"/>
            <a:ext cx="93802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Cross-attention связывает два ряда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9146" y="1773066"/>
            <a:ext cx="5289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Cross-attention в encoder-decoder модели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12747" y="2408904"/>
            <a:ext cx="11652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314977" y="2408904"/>
            <a:ext cx="12369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Проекции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64743" y="2408904"/>
            <a:ext cx="24555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Последовательность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2720" y="2810770"/>
            <a:ext cx="14230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Декодер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63516" y="2810770"/>
            <a:ext cx="3409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75246" y="2810770"/>
            <a:ext cx="30346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Создаваемый текст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01927" y="3325120"/>
            <a:ext cx="14014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Энкодер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13136" y="3325120"/>
            <a:ext cx="8420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 и V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53567" y="3325120"/>
            <a:ext cx="24885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Исходный текст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85923" y="5647404"/>
            <a:ext cx="71266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Запросы и источники информации относятся к разным рядам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08426" y="501663"/>
            <a:ext cx="54749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Квадратичный рост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89617" y="1773066"/>
            <a:ext cx="5126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Память одной матрицы оценок в float32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84609" y="2518023"/>
            <a:ext cx="14878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1024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48237" y="2994800"/>
            <a:ext cx="236093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 MiB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2429904" y="4180554"/>
            <a:ext cx="2006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1024² элементов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120189" y="2518023"/>
            <a:ext cx="14878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4096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28167" y="2994800"/>
            <a:ext cx="287210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64 MiB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7865491" y="4180554"/>
            <a:ext cx="2006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4096² элементов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94250" y="5647404"/>
            <a:ext cx="31038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×4 → число пар ×16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93890" y="6034957"/>
            <a:ext cx="4392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Эффективные реализации могут не хранить полную матрицу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44998" y="501663"/>
            <a:ext cx="78549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Разные веса — тот же выход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40014" y="2348382"/>
            <a:ext cx="22123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V₁ = V₂ = (1; 2)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02449" y="3260579"/>
            <a:ext cx="40862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0,9V₁ + 0,1V₂ = (1; 2)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02449" y="4454379"/>
            <a:ext cx="40862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0,2V₁ + 0,8V₂ = (1; 2)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38010" y="5647404"/>
            <a:ext cx="50374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карты весов могут дать один выход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1607" y="501663"/>
            <a:ext cx="79178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проверить в реализации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19989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Нормировка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60610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Сумма весов допустимой строки равна 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1093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Запрет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56089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Закрытый ключ получает нулевой вес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37680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Независимость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0977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Будущее не меняет ранний выход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954592" y="5647404"/>
            <a:ext cx="63982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проверка связана с конкретным шагом расчёта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25218" y="501663"/>
            <a:ext cx="76936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ручных матриц к модели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6364" y="1773066"/>
            <a:ext cx="25057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Следующая лекция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62203" y="2771826"/>
            <a:ext cx="28371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Ручные матрицы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75524" y="2771826"/>
            <a:ext cx="2753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Предобученный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28882" y="3229026"/>
            <a:ext cx="1454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энкодер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975154" y="2771826"/>
            <a:ext cx="16738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862759" y="3229026"/>
            <a:ext cx="18980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задачи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2809392" y="5647404"/>
            <a:ext cx="66782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Запросы, ключи, значения и маски сохраняют свой смысл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Внимание и Transformer</dc:title>
  <dc:subject>Внимание и Transformer</dc:subject>
  <dc:creator>Курс СИИ · NLP</dc:creator>
  <cp:lastModifiedBy>Курс СИИ · NLP</cp:lastModifiedBy>
  <cp:revision>1</cp:revision>
  <dcterms:created xsi:type="dcterms:W3CDTF">2026-09-21T15:38:30Z</dcterms:created>
  <dcterms:modified xsi:type="dcterms:W3CDTF">2026-09-21T15:38:30Z</dcterms:modified>
</cp:coreProperties>
</file>