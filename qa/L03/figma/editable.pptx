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L03-S01
- Категория уже известна, но для ответа нужна конкретная инструкция.
- Сегодня проследить представление, ранжирование и чтение найденного источника.
Фрагмент лекции: Классификатор может определить,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L03-S01
- Для продления книги нужен текст с условиями.
- Порядок результатов важен: документ о заселении не должен вытеснять нужную инструкцию.
- Далее векторизуем коллекцию.
Фрагмент лекции: Теперь результатом системы станет список документов,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L03-S02
- В TF-IDF координаты привязаны к словарным признакам; у плотного вектора они обычно не имеют простых названий.
- Значения здесь схематические, не результаты кодирования.
Фрагмент лекции: После TF-IDF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L03-S02
- Одинаковая размерность двух векторов не гарантирует одинакового смысла координат.
- Показаны условные словарные оси, переставленные местами.
- Реальные энкодеры могут различаться сложнее.
Фрагмент лекции: Для поиска требуется общее пространство.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L03-S03
- Одинаковый масштаб осей. u и v образуют 45°, u и w — 90°.
- Косинусы равны примерно 0,7071 и 0.
- Это геометрия заданных векторов, а не вероятность ответа.
- Следующий слайд разбирает первый расчёт.
Фрагмент лекции: Один из распространённых способов сравнить векторы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L03-S03
- Скалярное произведение равно 1, длины векторов равны 1 и √2.
- Подставить числа в формулу.
- Для единичных норм косинус совпадает со скалярным произведением, что удобно при сравнении со всеми документами.
- Затем изменить масштаб одного вектора.
Фрагмент лекции: Скалярное произведение u и v равно 1,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L03-S03
- Умножение v на положительное число 10 увеличивает в 10 раз и скалярное произведение, и норму v.
- Отношение сохраняется.
- При отрицательном масштабе направление меняется.
- Нулевой вектор разберём отдельно.
Фрагмент лекции: Теперь заменим v на (10;10).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L03-S03
- Если ни один фрагмент запроса не попал в словарь, норма равна 0 и косинус не определён.
- Наша функция возвращает пустую выдачу.
- Случай ненулевого запроса и нулевой оценки отдельного документа разберём на Q04.
- Теперь сократим размерность представления.
Фрагмент лекции: Нулевой вектор — отдельный случай: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L03-S04
- Направления V_k выбраны по матрице документов; запрос использует те же.
- Сокращение ранга минимизирует квадратичную ошибку восстановления.
- В следующем примере выполним это преобразование на конкретных числах.
Фрагмент лекции: Попробуем перейти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L03-S04
- В ручной матрице сумма квадратов первой координаты равна 8, второй — 1; столбцы ортогональны.
- При k=1 остаётся первая ось, с точностью до знака.
- Проекции равны 2, 0 и 2.
- Это учебные числа; далее покажем размеры матрицы основной работы.
Фрагмент лекции: Посмотрим на маленькую матрицу из трёх строк: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L03-S04
- Фактическая матрица TF-IDF имеет размер 12×670, после SVD — 12×6.
- Двенадцать документов остаются теми же.
- Размерность меньше, но полезность для запроса проверяется отдельно.
- После нормировки перейдём к другому способу получить плотные представления — Word2Vec.
Фрагмент лекции: Если исходная матрица 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L03-S05
- Окно ±1 вокруг «читает» включает «студент» и «новую», но не «книгу».
- Радиус 2 добавил бы и эту пару.
- Обучающие ответы создаются из позиций в самом тексте.
- Сопоставить это с обратной задачей CBOW.
Фрагмент лекции: Другая идея — учить представления по окружениям слов.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L03-S05
- Один и тот же фрагмент даёт разные направления предсказания.
- В CBOW используется объединённое представление окружения.
- Это разные обучающие задачи, а не последовательные шаги одного энкодера.
Фрагмент лекции: В Word2Vec есть также вариант CBOW: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L03-S05
- «Замок» выбран отрицательным примером конкретного шага; это не запрет сочетания в языке.
- К скалярному произведению обучаемых векторов применяется сигмоида.
- Потеря поощряет большую оценку положительной пары и меньшую отрицательной.
- Затем обсудить внутреннее устройство слова.
Фрагмент лекции: Для большого словаря сравнивать каждую пару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L03-S06
- Книга и книгой имеют общие символьные части.
- В fastText обучаемые подсловные векторы участвуют в представлении слова.
- Это не морфемный разбор.
- Далее меняется и контекст употребления.
Фрагмент лекции: Статическому словарю трудно обработать слово,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L03-S07
- Здесь два употребления слова, а не две записи статического словаря.
- На слайде сопоставлены два употребления; численные значения векторов не показаны.
Фрагмент лекции: Контекстная модель получает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L03-S07
- Различить входной текст, векторы позиций h_i и агрегированный вектор документа.
- Каждый h_i сам является вектором.
- Pooling выбирается по модели; CLS будет подробно разобран в L06.
- Для поиска итоговый вектор должен совпадать по смыслу координат с индексом.
Фрагмент лекции: Это меняет и единицу, которую мы сравниваем.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L03-S08
- TF-IDF и SVD обучаются на документах; индекс сохраняет соответствие строк и doc_id.
- К запросу применяются эти преобразования через transform.
- Эталонные ответы в fit не включаются.
- Дальше оценим полученный порядок документов.
Фрагмент лекции: Соберём поиск по шагам.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L03-S09
- Ранги эталонов: 1, 3, отсутствие в top-3 и 2.
- Вклад MRR равен обратному рангу; вне top-3 он нулевой.
- На следующем кадре усредняем по четырём ответимым вопросам.
Фрагмент лекции: Предположим, у каждого ответимого вопроса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L03-S09
- Один первый ранг из четырёх, три попадания в top-3 из четырёх.
- Сумма обратных рангов равна 11/6; делим её на 4.
- Перемещение эталона с третьего места на второе сохраняет Recall@3 и повышает MRR@3.
- Затем посмотрим реальную выдачу.
Фрагмент лекции: Тогда Recall@1=1/4=0,25;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L03-S10
- Q04: «Какие сведения нужны при технической ошибке?».
- В TF-IDF D02 третий с score=0; его место определяется doc_id после D05 и D01.
- В SVD D02 первый с близостью около 0,7899.
- Вклад Recall@3 одинаков, вклад MRR меняется с 1/3 на 1.
- Эталон действительно содержит нужные сведения.
Фрагмент лекции: Запрос Q04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L03-S10
- На тесте 16 вопросов с эталоном.
- Recall@1 у обоих методов — 14/16; Recall@3 у TF-IDF — 15/16, у SVD — 16/16.
- Разница соответствует одному вопросу в маленькой коллекции.
- Для вопросов без ответа нужен отдельный разбор.
Фрагмент лекции: В лабораторной мы сравним TF-IDF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L03-S10
- Точная строка Q26 взята из CSV.
- SVD возвращает D11 с косинусом 0,9909, но документ о назначении не сообщает сумму.
- Близость темы не является вероятностью наличия факта.
- Завершить предложением проверить источник; на следующем занятии перейдём к предсказанию продолжения.
Фрагмент лекции: Другой вопрос касается суммы стипендии.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903713" y="1488034"/>
            <a:ext cx="449961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Эмбеддинги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708328" y="2338934"/>
            <a:ext cx="2877185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56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и поиск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914400" y="353060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99953" y="3814070"/>
            <a:ext cx="350139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сравнивать тексты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386586" y="4239520"/>
            <a:ext cx="352298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общем пространстве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82712" y="501663"/>
            <a:ext cx="858393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Пользователю нужен документ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8018" y="1773066"/>
            <a:ext cx="2965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«Как продлить книгу?»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868106" y="2771826"/>
            <a:ext cx="12242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86770" y="2771826"/>
            <a:ext cx="25171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Ранжирование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813292" y="2771826"/>
            <a:ext cx="2000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Инструкция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983980" y="3416224"/>
            <a:ext cx="16573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и условия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249028" y="5647404"/>
            <a:ext cx="58115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Порядок документов влияет на полезность ответа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77244" y="501663"/>
            <a:ext cx="860107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Смысл распределён по вектору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92228" y="2397373"/>
            <a:ext cx="8223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36255" y="2917876"/>
            <a:ext cx="353187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Словарные признаки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83460" y="3565576"/>
            <a:ext cx="18408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(0; x₂; 0; …)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877937" y="2397373"/>
            <a:ext cx="20275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Плотный вектор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84429" y="2920727"/>
            <a:ext cx="483489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Распределённое представление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7895908" y="3523977"/>
            <a:ext cx="198691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(z₁; z₂; …; z_k)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2634367" y="5647404"/>
            <a:ext cx="70497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Вектор может представлять слово, позицию или целый текст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10582" y="501663"/>
            <a:ext cx="84715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Общее пространство векторов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77840" y="1773066"/>
            <a:ext cx="735076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Одинаковая размерность ещё не означает совместимость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2118830" y="2397373"/>
            <a:ext cx="257619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Словарь документов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794510" y="2919559"/>
            <a:ext cx="32308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 → координата 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86808" y="3503759"/>
            <a:ext cx="3451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пароль → координата 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405116" y="2397373"/>
            <a:ext cx="297307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Другой словарь запроса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73214" y="2919559"/>
            <a:ext cx="3451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пароль → координата 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80910" y="3503759"/>
            <a:ext cx="32308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книга → координата 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980119" y="5647404"/>
            <a:ext cx="63411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сравнения нужны согласованные преобразования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510967" y="6034957"/>
            <a:ext cx="18776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Условные словарные оси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13135" y="501663"/>
            <a:ext cx="928878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Косинус сравнивает направления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57500" y="5226050"/>
            <a:ext cx="3175000" cy="0"/>
          </a:xfrm>
          <a:prstGeom prst="line">
            <a:avLst/>
          </a:prstGeom>
          <a:noFill/>
          <a:ln w="12700">
            <a:solidFill>
              <a:srgbClr val="D9E3DD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2857500" y="2114550"/>
            <a:ext cx="0" cy="3111500"/>
          </a:xfrm>
          <a:prstGeom prst="line">
            <a:avLst/>
          </a:prstGeom>
          <a:noFill/>
          <a:ln w="12700">
            <a:solidFill>
              <a:srgbClr val="D9E3DD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857500" y="5226050"/>
            <a:ext cx="19685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 flipV="1">
            <a:off x="4705350" y="52260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 flipH="1" flipV="1">
            <a:off x="4705350" y="51689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 flipV="1">
            <a:off x="2857500" y="3257550"/>
            <a:ext cx="1968500" cy="1968500"/>
          </a:xfrm>
          <a:prstGeom prst="line">
            <a:avLst/>
          </a:prstGeom>
          <a:noFill/>
          <a:ln w="19050">
            <a:solidFill>
              <a:srgbClr val="0070C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4781099" y="3257550"/>
            <a:ext cx="44901" cy="125724"/>
          </a:xfrm>
          <a:prstGeom prst="line">
            <a:avLst/>
          </a:prstGeom>
          <a:noFill/>
          <a:ln w="19050">
            <a:solidFill>
              <a:srgbClr val="0070C0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>
            <a:off x="4700276" y="3257550"/>
            <a:ext cx="125724" cy="44901"/>
          </a:xfrm>
          <a:prstGeom prst="line">
            <a:avLst/>
          </a:prstGeom>
          <a:noFill/>
          <a:ln w="19050">
            <a:solidFill>
              <a:srgbClr val="0070C0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2857500" y="3257550"/>
            <a:ext cx="0" cy="1968500"/>
          </a:xfrm>
          <a:prstGeom prst="line">
            <a:avLst/>
          </a:prstGeom>
          <a:noFill/>
          <a:ln w="19050">
            <a:solidFill>
              <a:srgbClr val="65706A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2857500" y="3257550"/>
            <a:ext cx="57150" cy="120650"/>
          </a:xfrm>
          <a:prstGeom prst="line">
            <a:avLst/>
          </a:prstGeom>
          <a:noFill/>
          <a:ln w="19050">
            <a:solidFill>
              <a:srgbClr val="65706A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>
            <a:off x="2800350" y="3257550"/>
            <a:ext cx="57150" cy="120650"/>
          </a:xfrm>
          <a:prstGeom prst="line">
            <a:avLst/>
          </a:prstGeom>
          <a:noFill/>
          <a:ln w="19050">
            <a:solidFill>
              <a:srgbClr val="65706A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4940300" y="5380704"/>
            <a:ext cx="10585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 = (1; 0)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4965700" y="2847054"/>
            <a:ext cx="10388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 = (1; 1)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33450" y="2821654"/>
            <a:ext cx="11087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 = (0; 1)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501900" y="5271268"/>
            <a:ext cx="2108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66000" y="2800725"/>
            <a:ext cx="152654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cos(u, v)</a:t>
            </a:r>
            <a:endParaRPr lang="en-US" sz="3300" dirty="0"/>
          </a:p>
        </p:txBody>
      </p:sp>
      <p:sp>
        <p:nvSpPr>
          <p:cNvPr id="23" name="Text 21"/>
          <p:cNvSpPr/>
          <p:nvPr/>
        </p:nvSpPr>
        <p:spPr>
          <a:xfrm>
            <a:off x="7366000" y="3302375"/>
            <a:ext cx="15735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≈ 0,7071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7366000" y="4121525"/>
            <a:ext cx="163703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cos(u, w)</a:t>
            </a:r>
            <a:endParaRPr lang="en-US" sz="3300" dirty="0"/>
          </a:p>
        </p:txBody>
      </p:sp>
      <p:sp>
        <p:nvSpPr>
          <p:cNvPr id="25" name="Text 23"/>
          <p:cNvSpPr/>
          <p:nvPr/>
        </p:nvSpPr>
        <p:spPr>
          <a:xfrm>
            <a:off x="7366000" y="4623175"/>
            <a:ext cx="61785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3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0</a:t>
            </a:r>
            <a:endParaRPr lang="en-US" sz="3300" dirty="0"/>
          </a:p>
        </p:txBody>
      </p:sp>
      <p:sp>
        <p:nvSpPr>
          <p:cNvPr id="26" name="Text 24"/>
          <p:cNvSpPr/>
          <p:nvPr/>
        </p:nvSpPr>
        <p:spPr>
          <a:xfrm>
            <a:off x="8040434" y="6034957"/>
            <a:ext cx="33515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Учебные векторы · одинаковый масштаб осей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009938" y="501663"/>
            <a:ext cx="631444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Один косинус вручную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64274" y="2348382"/>
            <a:ext cx="47599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 · v = 1;  ||u|| = 1;  ||v|| = √2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3578371" y="3260579"/>
            <a:ext cx="513778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38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cos(u, v) = 1 / √2 ≈ 0,7071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292361" y="4462609"/>
            <a:ext cx="571627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Для единичных векторов cos(u, v) = u · v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60365" y="501663"/>
            <a:ext cx="77793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Масштаб не меняет косинус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76630" y="2348382"/>
            <a:ext cx="393763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 = (1; 1) → 10v = (10; 10)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4136917" y="3256883"/>
            <a:ext cx="401574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/ √2 = 10 / √200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4058304" y="4462932"/>
            <a:ext cx="41878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Направление сохраняется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483701" y="5647404"/>
            <a:ext cx="73666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Положительный масштаб; нулевой вектор — отдельный случай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47514" y="501663"/>
            <a:ext cx="92417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Нулевой запрос требует решения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93314" y="1773066"/>
            <a:ext cx="651700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Ни один фрагмент запроса не встретился в словаре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38242" y="2771826"/>
            <a:ext cx="10845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819987" y="2771826"/>
            <a:ext cx="26676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Нулевой вектор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336991" y="3416224"/>
            <a:ext cx="1619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 равна 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82025" y="2771826"/>
            <a:ext cx="24606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Пустая выдача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3627463" y="5647404"/>
            <a:ext cx="50628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Косинус с нулевым вектором не определён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301773" y="501663"/>
            <a:ext cx="77057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SVD выбирает направления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798" y="6372352"/>
            <a:ext cx="1727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37512" y="2348382"/>
            <a:ext cx="24180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 ≈ U_kΣ_kV_kᵀ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151260" y="3256883"/>
            <a:ext cx="1988820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60"/>
              </a:lnSpc>
              <a:buNone/>
            </a:pPr>
            <a:r>
              <a:rPr lang="en-US" sz="43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 = XV_k</a:t>
            </a:r>
            <a:endParaRPr lang="en-US" sz="4300" dirty="0"/>
          </a:p>
        </p:txBody>
      </p:sp>
      <p:sp>
        <p:nvSpPr>
          <p:cNvPr id="9" name="Text 7"/>
          <p:cNvSpPr/>
          <p:nvPr/>
        </p:nvSpPr>
        <p:spPr>
          <a:xfrm>
            <a:off x="4648695" y="4462932"/>
            <a:ext cx="299593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Запрос: z_q = qV_k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2813037" y="5647404"/>
            <a:ext cx="66827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Документы и запрос проецируются на те же направления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71969" y="6034957"/>
            <a:ext cx="40328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Truncated SVD · приближение матрицы меньшего ранга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37831" y="501663"/>
            <a:ext cx="100323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Проекция сохраняет выбранную ось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47829" y="2330177"/>
            <a:ext cx="279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042789" y="2921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947789" y="2921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042789" y="3683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947789" y="3683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042789" y="4445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947789" y="4445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5715000" y="4095750"/>
            <a:ext cx="10160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6610350" y="4095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6610350" y="4038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650757" y="2504478"/>
            <a:ext cx="12839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V₁ = (1; 0)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49805" y="2330177"/>
            <a:ext cx="10445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Z = XV₁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065895" y="2921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9065895" y="3683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9065895" y="4445495"/>
            <a:ext cx="38481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3026734" y="5647404"/>
            <a:ext cx="62490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Первая ось сохраняет 8 из 9 единиц суммы квадратов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073327" y="6034957"/>
            <a:ext cx="33134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Учебная матрица · знак направления условен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262063" y="501663"/>
            <a:ext cx="978027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Компактность меняет информацию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628" y="2518023"/>
            <a:ext cx="8223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130920" y="3005531"/>
            <a:ext cx="259651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 × 670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080514" y="4028154"/>
            <a:ext cx="270065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документы × признаки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585264" y="2518023"/>
            <a:ext cx="56070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961567" y="3005531"/>
            <a:ext cx="18065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buNone/>
            </a:pPr>
            <a:r>
              <a:rPr lang="en-US" sz="52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12 × 6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846124" y="4028154"/>
            <a:ext cx="20453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 же документы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2563400" y="5647404"/>
            <a:ext cx="720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Меньше координат; полезность поиска проверяется отдельно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26578" y="6034957"/>
            <a:ext cx="345884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3 · фактические размеры матриц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82972" y="501663"/>
            <a:ext cx="85318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Окно создаёт обучающие пары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69495" y="1773066"/>
            <a:ext cx="65811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Skip-gram · окно по одному слову с каждой стороны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417752" y="2355380"/>
            <a:ext cx="15906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</a:t>
            </a:r>
            <a:endParaRPr lang="en-US" sz="3500" dirty="0"/>
          </a:p>
        </p:txBody>
      </p:sp>
      <p:sp>
        <p:nvSpPr>
          <p:cNvPr id="9" name="Text 7"/>
          <p:cNvSpPr/>
          <p:nvPr/>
        </p:nvSpPr>
        <p:spPr>
          <a:xfrm>
            <a:off x="4154735" y="2355380"/>
            <a:ext cx="135636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b="1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</a:t>
            </a:r>
            <a:endParaRPr lang="en-US" sz="3500" dirty="0"/>
          </a:p>
        </p:txBody>
      </p:sp>
      <p:sp>
        <p:nvSpPr>
          <p:cNvPr id="10" name="Text 8"/>
          <p:cNvSpPr/>
          <p:nvPr/>
        </p:nvSpPr>
        <p:spPr>
          <a:xfrm>
            <a:off x="6807518" y="2355380"/>
            <a:ext cx="13081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новую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9519539" y="2355380"/>
            <a:ext cx="114046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книгу</a:t>
            </a:r>
            <a:endParaRPr lang="en-US" sz="3500" dirty="0"/>
          </a:p>
        </p:txBody>
      </p:sp>
      <p:sp>
        <p:nvSpPr>
          <p:cNvPr id="12" name="Shape 10"/>
          <p:cNvSpPr/>
          <p:nvPr/>
        </p:nvSpPr>
        <p:spPr>
          <a:xfrm flipH="1">
            <a:off x="3302000" y="3213100"/>
            <a:ext cx="1473200" cy="7239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 flipH="1">
            <a:off x="3302000" y="3832498"/>
            <a:ext cx="83077" cy="10450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3302000" y="3935082"/>
            <a:ext cx="133490" cy="1918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70500" y="3213100"/>
            <a:ext cx="2603500" cy="72390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V="1">
            <a:off x="7742428" y="3937000"/>
            <a:ext cx="131572" cy="22739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H="1" flipV="1">
            <a:off x="7773099" y="3849618"/>
            <a:ext cx="100902" cy="87382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959585" y="4352976"/>
            <a:ext cx="2905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 → студент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538085" y="4352976"/>
            <a:ext cx="270446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 → новую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3717449" y="5647404"/>
            <a:ext cx="48755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«Книгу» находится в двух шагах от центра</a:t>
            </a:r>
            <a:endParaRPr lang="en-US" sz="2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85786" y="501663"/>
            <a:ext cx="93414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Skip-gram и CBOW меняют задачу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6494" y="2397373"/>
            <a:ext cx="123888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Skip-gram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827249" y="2917876"/>
            <a:ext cx="1152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180347" y="3565576"/>
            <a:ext cx="4464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92598" y="4213276"/>
            <a:ext cx="26396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 · новую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473440" y="2397373"/>
            <a:ext cx="8356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CBOW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78979" y="2917876"/>
            <a:ext cx="26396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студент · новую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666734" y="3565576"/>
            <a:ext cx="44640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↓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313674" y="4213276"/>
            <a:ext cx="11525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792455" y="5647404"/>
            <a:ext cx="471297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направления обучающей задачи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848978" y="501663"/>
            <a:ext cx="662876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Учимся различать пары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09185" y="1773066"/>
            <a:ext cx="228854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Negative sampling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3224308" y="2408904"/>
            <a:ext cx="66294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Пара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7725346" y="2408904"/>
            <a:ext cx="20383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Роль в этом шаге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447747" y="2813622"/>
            <a:ext cx="22307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 · студент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019163" y="2813622"/>
            <a:ext cx="346011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Наблюдаемое соседство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2547118" y="3283522"/>
            <a:ext cx="201803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читает · замок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7062534" y="3283522"/>
            <a:ext cx="33578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Отрицательный пример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034155" y="5647404"/>
            <a:ext cx="42456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Оценка пары: σ(v_center · v_context)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143814" y="6034957"/>
            <a:ext cx="4244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Отрицательная пара не означает запрет сочетания в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82153" y="501663"/>
            <a:ext cx="91827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Подслова помогают новой форме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38165" y="1773066"/>
            <a:ext cx="10541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fastText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37683" y="2771826"/>
            <a:ext cx="117094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Новая 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420133" y="3229026"/>
            <a:ext cx="211899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словоформа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228888" y="2771826"/>
            <a:ext cx="183578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Известные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195030" y="3229026"/>
            <a:ext cx="190563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фрагменты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4978" y="3873424"/>
            <a:ext cx="132143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кни · ниг · …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698675" y="2771826"/>
            <a:ext cx="223012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Вектор слова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347091" y="5647404"/>
            <a:ext cx="561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Подсловные векторы обучаются по окружениям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660386" y="6034957"/>
            <a:ext cx="3733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Bojanowski et al., 2017 · подсловные представления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79550" y="501663"/>
            <a:ext cx="914463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Контекст меняет вектор позиции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40521" y="2397373"/>
            <a:ext cx="213106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 от комнаты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014645" y="2915863"/>
            <a:ext cx="27806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Вектор позиции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1608449" y="3385763"/>
            <a:ext cx="360743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этом предложении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8038529" y="2397373"/>
            <a:ext cx="17049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ключ доступа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501065" y="2915863"/>
            <a:ext cx="27806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Вектор позиции</a:t>
            </a:r>
            <a:endParaRPr lang="en-US" sz="3100" dirty="0"/>
          </a:p>
        </p:txBody>
      </p:sp>
      <p:sp>
        <p:nvSpPr>
          <p:cNvPr id="12" name="Text 10"/>
          <p:cNvSpPr/>
          <p:nvPr/>
        </p:nvSpPr>
        <p:spPr>
          <a:xfrm>
            <a:off x="6887782" y="3385763"/>
            <a:ext cx="402145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31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другом предложении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182353" y="5647404"/>
            <a:ext cx="59442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Окружение участвует в вычислении представления</a:t>
            </a:r>
            <a:endParaRPr lang="en-US" sz="2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30375" y="501663"/>
            <a:ext cx="84518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От текста к вектору документа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8608" y="2771826"/>
            <a:ext cx="9620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Текст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71852" y="2771826"/>
            <a:ext cx="1350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h₁, h₂, …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195481" y="3416224"/>
            <a:ext cx="190373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Векторы позиций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202865" y="2771826"/>
            <a:ext cx="12230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Вектор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892540" y="3229026"/>
            <a:ext cx="18453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документа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399270" y="3873424"/>
            <a:ext cx="83121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Pooling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325595" y="5647404"/>
            <a:ext cx="36677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Каждое hᵢ — отдельный вектор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80146" y="501663"/>
            <a:ext cx="798258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Запрос проходит тот же путь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18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564369" y="1773066"/>
            <a:ext cx="51720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Один набор обученных преобразований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938242" y="2771826"/>
            <a:ext cx="10845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46040" y="3416224"/>
            <a:ext cx="10807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784393" y="2771826"/>
            <a:ext cx="7270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SVD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5612105" y="3416224"/>
            <a:ext cx="108077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transform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585325" y="2771826"/>
            <a:ext cx="4546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116060" y="3416224"/>
            <a:ext cx="139636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Нормировка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05976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 flipV="1">
            <a:off x="434551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 flipH="1" flipV="1">
            <a:off x="434551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25855" y="3079750"/>
            <a:ext cx="406400" cy="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 flipV="1">
            <a:off x="8011605" y="307975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 flipH="1" flipV="1">
            <a:off x="8011605" y="3022600"/>
            <a:ext cx="120650" cy="57150"/>
          </a:xfrm>
          <a:prstGeom prst="line">
            <a:avLst/>
          </a:prstGeom>
          <a:noFill/>
          <a:ln w="19050">
            <a:solidFill>
              <a:srgbClr val="1D9A78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3607149" y="5647404"/>
            <a:ext cx="50927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Строка индекса остаётся связанной с doc_id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191087" y="501663"/>
            <a:ext cx="793242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Ранг меняет вклад в метрику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75365" y="2408904"/>
            <a:ext cx="919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Вопрос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682115" y="2408904"/>
            <a:ext cx="155829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Ранг эталона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410766" y="2408904"/>
            <a:ext cx="19221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Вклад в MRR@3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107159" y="28156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332959" y="28156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244584" y="28156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07159" y="32728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32959" y="32728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08377" y="3272828"/>
            <a:ext cx="527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1/3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07159" y="37300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01343" y="3730028"/>
            <a:ext cx="13220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 top-3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44584" y="37300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107159" y="41872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332959" y="4187228"/>
            <a:ext cx="2559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08377" y="4187228"/>
            <a:ext cx="52768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1/2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52499" y="6034957"/>
            <a:ext cx="33331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Учебный пример · четыре ответимых вопроса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81895" y="501663"/>
            <a:ext cx="49491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Попадание и ранг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44434" y="2518023"/>
            <a:ext cx="11639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Recall@1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82820" y="3004699"/>
            <a:ext cx="149225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51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0,25</a:t>
            </a:r>
            <a:endParaRPr lang="en-US" sz="5100" dirty="0"/>
          </a:p>
        </p:txBody>
      </p:sp>
      <p:sp>
        <p:nvSpPr>
          <p:cNvPr id="9" name="Text 7"/>
          <p:cNvSpPr/>
          <p:nvPr/>
        </p:nvSpPr>
        <p:spPr>
          <a:xfrm>
            <a:off x="2148135" y="4009104"/>
            <a:ext cx="7499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из 4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568169" y="2518023"/>
            <a:ext cx="116395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Recall@3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3239" y="3004699"/>
            <a:ext cx="141922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51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0,75</a:t>
            </a:r>
            <a:endParaRPr lang="en-US" sz="5100" dirty="0"/>
          </a:p>
        </p:txBody>
      </p:sp>
      <p:sp>
        <p:nvSpPr>
          <p:cNvPr id="12" name="Text 10"/>
          <p:cNvSpPr/>
          <p:nvPr/>
        </p:nvSpPr>
        <p:spPr>
          <a:xfrm>
            <a:off x="5771871" y="4009104"/>
            <a:ext cx="7499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из 4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252776" y="2518023"/>
            <a:ext cx="10350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MRR@3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28634" y="3004699"/>
            <a:ext cx="2295525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20"/>
              </a:lnSpc>
              <a:buNone/>
            </a:pPr>
            <a:r>
              <a:rPr lang="en-US" sz="5100" dirty="0">
                <a:solidFill>
                  <a:srgbClr val="1D9A7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0,4583</a:t>
            </a:r>
            <a:endParaRPr lang="en-US" sz="5100" dirty="0"/>
          </a:p>
        </p:txBody>
      </p:sp>
      <p:sp>
        <p:nvSpPr>
          <p:cNvPr id="15" name="Text 13"/>
          <p:cNvSpPr/>
          <p:nvPr/>
        </p:nvSpPr>
        <p:spPr>
          <a:xfrm>
            <a:off x="8245856" y="4009104"/>
            <a:ext cx="305562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Среднее обратных рангов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373651" y="5647404"/>
            <a:ext cx="354393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MRR@3 = (1 + 1/3 + 0 + 1/2) / 4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72112" y="501663"/>
            <a:ext cx="737489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Место при нулевой оценке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40311" y="1773066"/>
            <a:ext cx="722947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Q04: «Какие сведения нужны при технической ошибке?»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464371"/>
            <a:ext cx="9213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914400" y="3021482"/>
            <a:ext cx="24225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  D05 · 0,0855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914400" y="3643782"/>
            <a:ext cx="24225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  D01 · 0,0807</a:t>
            </a:r>
            <a:endParaRPr lang="en-US" sz="2900" dirty="0"/>
          </a:p>
        </p:txBody>
      </p:sp>
      <p:sp>
        <p:nvSpPr>
          <p:cNvPr id="11" name="Text 9"/>
          <p:cNvSpPr/>
          <p:nvPr/>
        </p:nvSpPr>
        <p:spPr>
          <a:xfrm>
            <a:off x="914400" y="4266082"/>
            <a:ext cx="158369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  D02 · 0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6400800" y="2464371"/>
            <a:ext cx="6235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SVD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400800" y="3021482"/>
            <a:ext cx="24225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9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  D02 · 0,7899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3629939" y="5647404"/>
            <a:ext cx="50399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Равные оценки упорядочиваются по doc_id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01526" y="501663"/>
            <a:ext cx="751649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Разница — одно попадание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13001" y="2408904"/>
            <a:ext cx="8547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Метод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906359" y="2408904"/>
            <a:ext cx="11156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Recall@1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817991" y="2408904"/>
            <a:ext cx="11156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Recall@3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74660" y="2813622"/>
            <a:ext cx="92138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TF-IDF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4514444" y="2813622"/>
            <a:ext cx="189039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14/16 = 0,875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8345551" y="2813622"/>
            <a:ext cx="20510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15/16 = 0,9375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1924723" y="3283522"/>
            <a:ext cx="62357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SVD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514444" y="3283522"/>
            <a:ext cx="189039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14/16 = 0,875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707120" y="3283522"/>
            <a:ext cx="132905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5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16/16 = 1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2578633" y="5647404"/>
            <a:ext cx="71570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Разница относится к одному вопросу в небольшой коллекции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690231" y="6034957"/>
            <a:ext cx="3698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Лабораторная 3 · 16 тестовых вопросов с эталоном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987156" y="501663"/>
            <a:ext cx="834136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200" dirty="0">
                <a:solidFill>
                  <a:srgbClr val="161B18"/>
                </a:solidFill>
                <a:latin typeface="Prata" pitchFamily="34" charset="0"/>
                <a:ea typeface="Prata" pitchFamily="34" charset="-122"/>
                <a:cs typeface="Prata" pitchFamily="34" charset="-120"/>
              </a:rPr>
              <a:t>Близость не добавляет фактов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914400" y="1352550"/>
            <a:ext cx="10363200" cy="25400"/>
          </a:xfrm>
          <a:prstGeom prst="rect">
            <a:avLst/>
          </a:prstGeom>
          <a:solidFill>
            <a:srgbClr val="1D9A7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6372352"/>
            <a:ext cx="25920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Системы искусственного интеллекта · NLP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35995" y="6372352"/>
            <a:ext cx="2438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131117"/>
            <a:ext cx="56362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«Сколько рублей составляет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2677217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академическая стипендия?»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914400" y="4225004"/>
            <a:ext cx="168846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Косинус с D11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4662043"/>
            <a:ext cx="187007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5000" dirty="0">
                <a:solidFill>
                  <a:srgbClr val="161B1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0,9909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400800" y="4225004"/>
            <a:ext cx="281749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 документа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4679677"/>
            <a:ext cx="38544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 назначении стипендии.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400800" y="5092427"/>
            <a:ext cx="268795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1D9A7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Суммы в нём нет.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882055" y="5647404"/>
            <a:ext cx="65443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65706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Близость темы не подтверждает наличие нужного факта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8520240" y="6034957"/>
            <a:ext cx="28625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0070C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Q26 · вопрос без ответа в учебной базе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Эмбеддинги и поиск</dc:title>
  <dc:subject>Эмбеддинги и поиск</dc:subject>
  <dc:creator>Курс СИИ · NLP</dc:creator>
  <cp:lastModifiedBy>Курс СИИ · NLP</cp:lastModifiedBy>
  <cp:revision>1</cp:revision>
  <dcterms:created xsi:type="dcterms:W3CDTF">2026-09-21T14:26:01Z</dcterms:created>
  <dcterms:modified xsi:type="dcterms:W3CDTF">2026-09-21T14:26:01Z</dcterms:modified>
</cp:coreProperties>
</file>