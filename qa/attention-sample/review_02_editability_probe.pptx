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L05-S01
Начать с вопроса: как одна позиция получает сведения от других? Разобрать один запрос, затем применить то же вычисление ко всем позициям.
Фрагмент лекции: Нам предстоит пройти путь от одного запроса к полному блоку.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L05-S03
Первый запрос q₁=(1;0). Его скалярные произведения с ключами равны 1 и 0. Значения V пока не участвуют. Следующий шаг — масштабирование оценок.
Фрагмент лекции: Возьмём два запроса и два ключа: Q=K — единичная матрица 2×2.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L05-S03
Оценки делятся на √2: получаем 0,7071 и 0. После softmax веса равны 0,6698 и 0,3302, их сумма — 1. Нулевая оценка не означает нулевого веса.
Фрагмент лекции: Softmax этой строки даёт приблизительно (0,6698;0,3302).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L05-S03
Умножить каждое значение на его вес. Получить (6,6976;0) и (0;6,6048), затем сложить координаты. У меньшего веса может быть заметный вклад, если само значение больше.
Фрагмент лекции: Новое значение для первой позиции — 0,6698×(10;0)+0,3302×(0;20)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L05-S03
Каждая строка A относится к своему запросу. В нашем симметричном примере веса меняются местами. Умножение A на V даёт по новому вектору для каждой позиции; общего требования симметрии нет.
Фрагмент лекции: Полная матрица A имеет две строки, каждая суммируется к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L05-S04
Заменить оценку будущего ключа на −∞ до softmax. Exp(−∞)=0: первая строка весов становится (1;0). Это результат применения маски, сама маска задаёт доступность. Затем предложить вопрос следующего слайда.
Фрагмент лекции: С причинной маской первой позиции разрешён только первый ключ.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L05-S04
Остановиться на вопросе. Обсудить, какие величины изменились: только V₂; Q, K, V₁ и маска прежние. Попросить предсказать первый выход. Ответ показывается следующим кадром.
Фрагмент лекции: При корректной маске выход первой позиции не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L05-S04
Раскрыть ответ, сохранив расположение объектов предыдущего кадра. Вклад V₂′ равен нулю, поэтому o₁=V₁=(10;0). Это проверка применения маски, которую затем воспроизводим в коде.
Фрагмент лекции: При корректной маске выход первой позиции не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AB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7315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Внимание</a:t>
            </a:r>
            <a:endParaRPr lang="en-US" sz="5600" dirty="0"/>
          </a:p>
          <a:p>
            <a:pPr algn="l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Transformer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440740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6D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Разберём один запрос: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6D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сравнения векторов до нового представления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235440" y="1554480"/>
            <a:ext cx="960120" cy="960120"/>
          </a:xfrm>
          <a:prstGeom prst="ellipse">
            <a:avLst/>
          </a:prstGeom>
          <a:solidFill>
            <a:srgbClr val="6D2E46"/>
          </a:solidFill>
          <a:ln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0" y="15544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75320" y="3794760"/>
            <a:ext cx="960120" cy="960120"/>
          </a:xfrm>
          <a:prstGeom prst="ellipse">
            <a:avLst/>
          </a:prstGeom>
          <a:solidFill>
            <a:srgbClr val="315B9D"/>
          </a:solidFill>
          <a:ln>
            <a:solidFill>
              <a:srgbClr val="315B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0" y="3794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195560" y="3794760"/>
            <a:ext cx="960120" cy="960120"/>
          </a:xfrm>
          <a:prstGeom prst="ellipse">
            <a:avLst/>
          </a:prstGeom>
          <a:solidFill>
            <a:srgbClr val="315B9D"/>
          </a:solidFill>
          <a:ln>
            <a:solidFill>
              <a:srgbClr val="315B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0" y="3794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k₂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 flipH="1">
            <a:off x="8778240" y="2679192"/>
            <a:ext cx="868680" cy="822960"/>
          </a:xfrm>
          <a:prstGeom prst="line">
            <a:avLst/>
          </a:prstGeom>
          <a:noFill/>
          <a:ln w="29210">
            <a:solidFill>
              <a:srgbClr val="B8BCC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738360" y="2679192"/>
            <a:ext cx="868680" cy="822960"/>
          </a:xfrm>
          <a:prstGeom prst="line">
            <a:avLst/>
          </a:prstGeom>
          <a:noFill/>
          <a:ln w="29210">
            <a:solidFill>
              <a:srgbClr val="B8BCC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27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сравнивается с каждым ключом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045952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запрос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62456" y="274320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143000" y="2743200"/>
            <a:ext cx="0" cy="141732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743200"/>
            <a:ext cx="137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4160520"/>
            <a:ext cx="137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2743200"/>
            <a:ext cx="0" cy="141732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2743200"/>
            <a:ext cx="137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4160520"/>
            <a:ext cx="137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278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q₁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 flipV="1">
            <a:off x="2880360" y="2468880"/>
            <a:ext cx="2834640" cy="822960"/>
          </a:xfrm>
          <a:prstGeom prst="line">
            <a:avLst/>
          </a:prstGeom>
          <a:noFill/>
          <a:ln w="25400">
            <a:solidFill>
              <a:srgbClr val="315B9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80360" y="3566160"/>
            <a:ext cx="2834640" cy="822960"/>
          </a:xfrm>
          <a:prstGeom prst="line">
            <a:avLst/>
          </a:prstGeom>
          <a:noFill/>
          <a:ln w="25400">
            <a:solidFill>
              <a:srgbClr val="315B9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080760" y="20482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77456" y="1773936"/>
            <a:ext cx="74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858000" y="1773936"/>
            <a:ext cx="0" cy="105156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773936"/>
            <a:ext cx="137160" cy="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825496"/>
            <a:ext cx="137160" cy="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773936"/>
            <a:ext cx="0" cy="105156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1773936"/>
            <a:ext cx="137160" cy="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9560" y="2825496"/>
            <a:ext cx="137160" cy="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k₂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77456" y="3749040"/>
            <a:ext cx="74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858000" y="3749040"/>
            <a:ext cx="0" cy="105156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3749040"/>
            <a:ext cx="137160" cy="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4800600"/>
            <a:ext cx="137160" cy="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749040"/>
            <a:ext cx="0" cy="105156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3749040"/>
            <a:ext cx="137160" cy="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9560" y="4800600"/>
            <a:ext cx="137160" cy="0"/>
          </a:xfrm>
          <a:prstGeom prst="line">
            <a:avLst/>
          </a:prstGeom>
          <a:noFill/>
          <a:ln w="19050">
            <a:solidFill>
              <a:srgbClr val="315B9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1938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q₁ · k₁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0515600" y="179222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868680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q₁ · k₂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0515600" y="378561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731520" y="56418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позиции; размерность ключа dₖ = 2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27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превращает оценки в веса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045952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755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 / √2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1401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0,7071     0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731520" y="3822192"/>
            <a:ext cx="4297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exp(0,7071) ≈ 2,028</a:t>
            </a:r>
            <a:endParaRPr lang="en-US" sz="2500" dirty="0"/>
          </a:p>
          <a:p>
            <a:pPr algn="l" indent="0" marL="0">
              <a:buNone/>
            </a:pPr>
            <a:r>
              <a:rPr lang="en-US" sz="25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exp(0) = 1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983480" y="3035808"/>
            <a:ext cx="1143000" cy="0"/>
          </a:xfrm>
          <a:prstGeom prst="line">
            <a:avLst/>
          </a:prstGeom>
          <a:noFill/>
          <a:ln w="25400">
            <a:solidFill>
              <a:srgbClr val="171A2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629400" y="17556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Нормируем по сумме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532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60920" y="2542032"/>
            <a:ext cx="2743200" cy="402336"/>
          </a:xfrm>
          <a:prstGeom prst="rect">
            <a:avLst/>
          </a:prstGeom>
          <a:solidFill>
            <a:srgbClr val="6D2E46"/>
          </a:solidFill>
          <a:ln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78440" y="24231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0,6698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29400" y="35021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60920" y="3511296"/>
            <a:ext cx="1352351" cy="402336"/>
          </a:xfrm>
          <a:prstGeom prst="rect">
            <a:avLst/>
          </a:prstGeom>
          <a:solidFill>
            <a:srgbClr val="C99AAE"/>
          </a:solidFill>
          <a:ln>
            <a:solidFill>
              <a:srgbClr val="C99A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78440" y="339242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29400" y="46451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0,6698 + 0,3302 = 1</a:t>
            </a:r>
            <a:endParaRPr lang="en-US" sz="2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27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задают вклад каждого значения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045952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709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F5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749040" y="1709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0" y="1709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Взвешенные значения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0756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37216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2514600"/>
            <a:ext cx="1024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0" cy="109728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51460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118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514600"/>
            <a:ext cx="0" cy="109728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251460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36118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2788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74720" y="27432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0,6698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03520" y="2788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25896" y="251460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6,6976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806440" y="2514600"/>
            <a:ext cx="0" cy="109728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251460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36118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2514600"/>
            <a:ext cx="0" cy="109728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251460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36118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4160520"/>
            <a:ext cx="1024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822960" y="4160520"/>
            <a:ext cx="0" cy="109728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16052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25780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4160520"/>
            <a:ext cx="0" cy="109728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416052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48840" y="525780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4434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3474720" y="43891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0,3302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303520" y="4434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025896" y="416052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6,6048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5806440" y="4160520"/>
            <a:ext cx="0" cy="109728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416052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440" y="525780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4160520"/>
            <a:ext cx="0" cy="109728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416052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525780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2440" y="3136392"/>
            <a:ext cx="932688" cy="548640"/>
          </a:xfrm>
          <a:prstGeom prst="line">
            <a:avLst/>
          </a:prstGeom>
          <a:noFill/>
          <a:ln w="21590">
            <a:solidFill>
              <a:srgbClr val="BF582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8092440" y="4114800"/>
            <a:ext cx="932688" cy="457200"/>
          </a:xfrm>
          <a:prstGeom prst="line">
            <a:avLst/>
          </a:prstGeom>
          <a:noFill/>
          <a:ln w="21590">
            <a:solidFill>
              <a:srgbClr val="BF5826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6410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9409176" y="3319272"/>
            <a:ext cx="16184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6,6976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6,6048</a:t>
            </a:r>
            <a:endParaRPr lang="en-US" sz="2900" dirty="0"/>
          </a:p>
        </p:txBody>
      </p:sp>
      <p:sp>
        <p:nvSpPr>
          <p:cNvPr id="47" name="Shape 45"/>
          <p:cNvSpPr/>
          <p:nvPr/>
        </p:nvSpPr>
        <p:spPr>
          <a:xfrm>
            <a:off x="9189720" y="3319272"/>
            <a:ext cx="0" cy="1353312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9720" y="3319272"/>
            <a:ext cx="137160" cy="0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89720" y="4672584"/>
            <a:ext cx="137160" cy="0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47120" y="3319272"/>
            <a:ext cx="0" cy="1353312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109960" y="3319272"/>
            <a:ext cx="137160" cy="0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09960" y="4672584"/>
            <a:ext cx="137160" cy="0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19488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o₁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8823960" y="505663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представление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первой позиции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27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же вычисление выполняется для всех запросов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045952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55648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280160" y="2697480"/>
            <a:ext cx="1042416" cy="1042416"/>
          </a:xfrm>
          <a:prstGeom prst="rect">
            <a:avLst/>
          </a:prstGeom>
          <a:solidFill>
            <a:srgbClr val="9D7383"/>
          </a:solidFill>
          <a:ln w="7620">
            <a:solidFill>
              <a:srgbClr val="DF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07592" y="2752344"/>
            <a:ext cx="987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0,6698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59152" y="2697480"/>
            <a:ext cx="1042416" cy="1042416"/>
          </a:xfrm>
          <a:prstGeom prst="rect">
            <a:avLst/>
          </a:prstGeom>
          <a:solidFill>
            <a:srgbClr val="CFBAC2"/>
          </a:solidFill>
          <a:ln w="7620">
            <a:solidFill>
              <a:srgbClr val="DFE1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386584" y="2752344"/>
            <a:ext cx="987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0,3302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80160" y="3776472"/>
            <a:ext cx="1042416" cy="1042416"/>
          </a:xfrm>
          <a:prstGeom prst="rect">
            <a:avLst/>
          </a:prstGeom>
          <a:solidFill>
            <a:srgbClr val="CFBAC2"/>
          </a:solidFill>
          <a:ln w="7620">
            <a:solidFill>
              <a:srgbClr val="DFE1E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07592" y="3831336"/>
            <a:ext cx="987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0,3302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59152" y="3776472"/>
            <a:ext cx="1042416" cy="1042416"/>
          </a:xfrm>
          <a:prstGeom prst="rect">
            <a:avLst/>
          </a:prstGeom>
          <a:solidFill>
            <a:srgbClr val="9D7383"/>
          </a:solidFill>
          <a:ln w="7620">
            <a:solidFill>
              <a:srgbClr val="DFE1E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386584" y="3831336"/>
            <a:ext cx="987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0,6698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59152" y="2286000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5528" y="2880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5528" y="39593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49040" y="340156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919472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91456" y="2816352"/>
            <a:ext cx="877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5669280" y="2816352"/>
            <a:ext cx="877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4791456" y="3675888"/>
            <a:ext cx="877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5669280" y="3675888"/>
            <a:ext cx="877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900" dirty="0"/>
          </a:p>
        </p:txBody>
      </p:sp>
      <p:sp>
        <p:nvSpPr>
          <p:cNvPr id="23" name="Shape 21"/>
          <p:cNvSpPr/>
          <p:nvPr/>
        </p:nvSpPr>
        <p:spPr>
          <a:xfrm>
            <a:off x="4617720" y="2816352"/>
            <a:ext cx="0" cy="1719072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617720" y="2816352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617720" y="4535424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720840" y="2816352"/>
            <a:ext cx="0" cy="1719072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83680" y="2816352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83680" y="4535424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023360" y="2990088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V₁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023360" y="384048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V₂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34015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8860536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339328" y="2816352"/>
            <a:ext cx="14767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6,6976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9816084" y="2816352"/>
            <a:ext cx="14767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6,6048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8339328" y="3675888"/>
            <a:ext cx="14767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3,3024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9816084" y="3675888"/>
            <a:ext cx="14767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13,3952</a:t>
            </a:r>
            <a:endParaRPr lang="en-US" sz="2700" dirty="0"/>
          </a:p>
        </p:txBody>
      </p:sp>
      <p:sp>
        <p:nvSpPr>
          <p:cNvPr id="37" name="Shape 35"/>
          <p:cNvSpPr/>
          <p:nvPr/>
        </p:nvSpPr>
        <p:spPr>
          <a:xfrm>
            <a:off x="8165592" y="2816352"/>
            <a:ext cx="0" cy="1719072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165592" y="2816352"/>
            <a:ext cx="137160" cy="0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165592" y="4535424"/>
            <a:ext cx="137160" cy="0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1466576" y="2816352"/>
            <a:ext cx="0" cy="1719072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1329416" y="2816352"/>
            <a:ext cx="137160" cy="0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1329416" y="4535424"/>
            <a:ext cx="137160" cy="0"/>
          </a:xfrm>
          <a:prstGeom prst="line">
            <a:avLst/>
          </a:prstGeom>
          <a:noFill/>
          <a:ln w="19050">
            <a:solidFill>
              <a:srgbClr val="171A2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516368" y="2990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o₁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516368" y="3840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o₂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77240" y="5596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строка — один запрос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27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Маска закрывает будущий ключ до softmax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045952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 для q₁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35608" y="2468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0" y="2468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61288" y="3063240"/>
            <a:ext cx="1609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0,7071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770632" y="3063240"/>
            <a:ext cx="1609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87552" y="3063240"/>
            <a:ext cx="0" cy="1033272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3063240"/>
            <a:ext cx="137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4096512"/>
            <a:ext cx="137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3063240"/>
            <a:ext cx="0" cy="1033272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3063240"/>
            <a:ext cx="137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4096512"/>
            <a:ext cx="13716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44714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−∞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651760" y="51572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Скрыли будущий ключ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20640" y="3593592"/>
            <a:ext cx="1389888" cy="0"/>
          </a:xfrm>
          <a:prstGeom prst="line">
            <a:avLst/>
          </a:prstGeom>
          <a:noFill/>
          <a:ln w="25400">
            <a:solidFill>
              <a:srgbClr val="171A2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01768" y="2889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315200" y="1737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для q₁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89520" y="3035808"/>
            <a:ext cx="1225296" cy="1225296"/>
          </a:xfrm>
          <a:prstGeom prst="rect">
            <a:avLst/>
          </a:prstGeom>
          <a:solidFill>
            <a:srgbClr val="6D2E46"/>
          </a:solidFill>
          <a:ln w="7620">
            <a:solidFill>
              <a:srgbClr val="DF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2" y="3090672"/>
            <a:ext cx="1170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51392" y="3035808"/>
            <a:ext cx="1225296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DF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78824" y="3090672"/>
            <a:ext cx="11704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89520" y="262432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851392" y="262432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15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k₂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04888" y="32186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87375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exp(−∞) = 0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27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Изменим V₂. Что произойдёт с первым выходом?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045952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Q, K, V₁ и маска остаются прежними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7373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048256" y="292608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0" cy="114300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926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4069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926080"/>
            <a:ext cx="0" cy="114300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926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4069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2735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V₂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251960" y="3529584"/>
            <a:ext cx="2249424" cy="0"/>
          </a:xfrm>
          <a:prstGeom prst="line">
            <a:avLst/>
          </a:prstGeom>
          <a:noFill/>
          <a:ln w="25400">
            <a:solidFill>
              <a:srgbClr val="171A2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895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00416" y="292608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680960" y="2926080"/>
            <a:ext cx="0" cy="114300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2926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4069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2926080"/>
            <a:ext cx="0" cy="114300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926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4069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273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V₂′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69848" y="4892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o₁ = (10; 0)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39712" y="4892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o₁ = ?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27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выход остаётся прежним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045952" y="6355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Q, K, V₁ и маска остаются прежними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7373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048256" y="292608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0" cy="114300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926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4069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926080"/>
            <a:ext cx="0" cy="114300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926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4069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2735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V₂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251960" y="3529584"/>
            <a:ext cx="2249424" cy="0"/>
          </a:xfrm>
          <a:prstGeom prst="line">
            <a:avLst/>
          </a:prstGeom>
          <a:noFill/>
          <a:ln w="25400">
            <a:solidFill>
              <a:srgbClr val="171A2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895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62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00416" y="2926080"/>
            <a:ext cx="1298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680960" y="2926080"/>
            <a:ext cx="0" cy="114300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2926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4069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2926080"/>
            <a:ext cx="0" cy="114300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926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4069080"/>
            <a:ext cx="137160" cy="0"/>
          </a:xfrm>
          <a:prstGeom prst="line">
            <a:avLst/>
          </a:prstGeom>
          <a:noFill/>
          <a:ln w="19050">
            <a:solidFill>
              <a:srgbClr val="BF58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273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BF5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V₂′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69848" y="4892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o₁ = (10; 0)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39712" y="4892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o₁ = (10; 0)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087368" y="57607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7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V₁ + 0 · V₂′ = V₁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Внимание в Transformer</dc:title>
  <dc:subject>Внимание в Transformer</dc:subject>
  <dc:creator>Курс СИИ · NLP</dc:creator>
  <cp:lastModifiedBy>Курс СИИ · NLP</cp:lastModifiedBy>
  <cp:revision>1</cp:revision>
  <dcterms:created xsi:type="dcterms:W3CDTF">2026-09-07T23:43:23Z</dcterms:created>
  <dcterms:modified xsi:type="dcterms:W3CDTF">2026-09-07T23:43:23Z</dcterms:modified>
</cp:coreProperties>
</file>