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DEMO-S01
Сравнить один общий FFN и набор экспертных FFN. Роутер выбирает путь для конкретного токена; названия E₁–E₄ не задают заранее предметную специализацию.
Фрагмент лекции: В обычном блоке Transformer все токены проходят через одну и ту же feed-forward сеть.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DEMO-S02
На четырёх авторских вероятностях выбрать top-2. Разделить 0,55 и 0,25 на 0,8: веса 0,6875 и 0,3125. Эта нормировка относится к показанному примеру; не смешивать её с gate scaling Switch top-1.
Иллюстрация: Взвешенная сумма выбранных экспертов
Фрагмент лекции: Для top-2 оставим первых двух и перенормируем их веса по оставшейся сумме 0,8.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DEMO-S03
Слева собственная упрощённая схема места Switch FFN в блоке; справа увеличенный фрагмент Figure 2 из статьи, один токен. В исходной схеме gate probability также масштабирует выбранный выход.
Иллюстрация: Fedus, Zoph, Shazeer · JMLR 2022 · фрагмент рис. 2
Фрагмент лекции: Switch Transformer использует маршрутизацию top-1: для каждого токена выбирается один эксперт.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DEMO-S04
Сначала предложить объяснить проблему распределения (8;0;0;0). Все токены выбирают E₁, остальные простаивают. Следующий слайд показывает сравнение с равномерной загрузкой.
Фрагмент лекции: На рисунке сравним два распределения восьми токенов между четырьмя экспертами: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DEMO-S05
Сравнить два авторских распределения одних и тех же восьми токенов. Число экспертов одинаково, использование различается. Обсудить, зачем при обучении роутера учитывать загрузку.
Иллюстрация: Учебное сравнение распределения восьми токенов между четырьмя экспертами
Фрагмент лекции: В реальных MoE используются ограничения вместимости эксперта и методы балансировки загрузки.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701.06538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1.06538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jmlr.org/papers/v23/21-0998.html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jmlr.org/papers/v23/21-0998.html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505" y="640080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Mixture of Experts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8505" y="1691640"/>
            <a:ext cx="10515600" cy="0"/>
          </a:xfrm>
          <a:prstGeom prst="line">
            <a:avLst/>
          </a:prstGeom>
          <a:noFill/>
          <a:ln w="25400">
            <a:solidFill>
              <a:srgbClr val="1D9A78"/>
            </a:solidFill>
            <a:prstDash val="solid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3520440" y="6428232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Системы искусственного интеллекта · NLP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4282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" y="1837944"/>
            <a:ext cx="10323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одного токена вычисляется часть экспертных сетей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41248" y="82296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u="sng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Shazeer et al., 2017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51560" y="3520440"/>
            <a:ext cx="1234440" cy="694944"/>
          </a:xfrm>
          <a:prstGeom prst="rect">
            <a:avLst/>
          </a:prstGeom>
          <a:solidFill>
            <a:srgbClr val="EAF2F7"/>
          </a:solidFill>
          <a:ln>
            <a:solidFill>
              <a:srgbClr val="EAF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3621024"/>
            <a:ext cx="1106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 x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2404872" y="3867912"/>
            <a:ext cx="1078992" cy="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75888" y="3337560"/>
            <a:ext cx="1892808" cy="1051560"/>
          </a:xfrm>
          <a:prstGeom prst="rect">
            <a:avLst/>
          </a:prstGeom>
          <a:solidFill>
            <a:srgbClr val="E9F5F0"/>
          </a:solidFill>
          <a:ln>
            <a:solidFill>
              <a:srgbClr val="E9F5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3593592"/>
            <a:ext cx="1655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Роутер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720840" y="2587752"/>
            <a:ext cx="1371600" cy="621792"/>
          </a:xfrm>
          <a:prstGeom prst="rect">
            <a:avLst/>
          </a:prstGeom>
          <a:solidFill>
            <a:srgbClr val="E9F5F0"/>
          </a:solidFill>
          <a:ln>
            <a:solidFill>
              <a:srgbClr val="E9F5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75704" y="2660904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E₁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 flipV="1">
            <a:off x="5641848" y="2898648"/>
            <a:ext cx="914400" cy="969264"/>
          </a:xfrm>
          <a:prstGeom prst="line">
            <a:avLst/>
          </a:prstGeom>
          <a:noFill/>
          <a:ln w="25400">
            <a:solidFill>
              <a:srgbClr val="1D9A7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29600" y="2898648"/>
            <a:ext cx="1024128" cy="969264"/>
          </a:xfrm>
          <a:prstGeom prst="line">
            <a:avLst/>
          </a:prstGeom>
          <a:noFill/>
          <a:ln w="25400">
            <a:solidFill>
              <a:srgbClr val="1D9A7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720840" y="3483864"/>
            <a:ext cx="1371600" cy="621792"/>
          </a:xfrm>
          <a:prstGeom prst="rect">
            <a:avLst/>
          </a:prstGeom>
          <a:solidFill>
            <a:srgbClr val="E9F5F0"/>
          </a:solidFill>
          <a:ln>
            <a:solidFill>
              <a:srgbClr val="E9F5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75704" y="3557016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E₂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 flipV="1">
            <a:off x="5641848" y="3794760"/>
            <a:ext cx="914400" cy="73152"/>
          </a:xfrm>
          <a:prstGeom prst="line">
            <a:avLst/>
          </a:prstGeom>
          <a:noFill/>
          <a:ln w="25400">
            <a:solidFill>
              <a:srgbClr val="1D9A7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0" y="3794760"/>
            <a:ext cx="1024128" cy="73152"/>
          </a:xfrm>
          <a:prstGeom prst="line">
            <a:avLst/>
          </a:prstGeom>
          <a:noFill/>
          <a:ln w="25400">
            <a:solidFill>
              <a:srgbClr val="1D9A7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720840" y="4379976"/>
            <a:ext cx="1371600" cy="621792"/>
          </a:xfrm>
          <a:prstGeom prst="rect">
            <a:avLst/>
          </a:prstGeom>
          <a:solidFill>
            <a:srgbClr val="F2F3F3"/>
          </a:solidFill>
          <a:ln>
            <a:solidFill>
              <a:srgbClr val="F2F3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75704" y="4453128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D9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E₃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641848" y="3867912"/>
            <a:ext cx="914400" cy="822960"/>
          </a:xfrm>
          <a:prstGeom prst="line">
            <a:avLst/>
          </a:prstGeom>
          <a:noFill/>
          <a:ln w="13970">
            <a:solidFill>
              <a:srgbClr val="D1D6D4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720840" y="5276088"/>
            <a:ext cx="1371600" cy="621792"/>
          </a:xfrm>
          <a:prstGeom prst="rect">
            <a:avLst/>
          </a:prstGeom>
          <a:solidFill>
            <a:srgbClr val="F2F3F3"/>
          </a:solidFill>
          <a:ln>
            <a:solidFill>
              <a:srgbClr val="F2F3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75704" y="5349240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D9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E₄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5641848" y="3867912"/>
            <a:ext cx="914400" cy="1719072"/>
          </a:xfrm>
          <a:prstGeom prst="line">
            <a:avLst/>
          </a:prstGeom>
          <a:noFill/>
          <a:ln w="13970">
            <a:solidFill>
              <a:srgbClr val="D1D6D4"/>
            </a:solidFill>
            <a:prstDash val="dash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9390888" y="354787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3500" dirty="0"/>
          </a:p>
        </p:txBody>
      </p:sp>
      <p:sp>
        <p:nvSpPr>
          <p:cNvPr id="28" name="Shape 26"/>
          <p:cNvSpPr/>
          <p:nvPr/>
        </p:nvSpPr>
        <p:spPr>
          <a:xfrm>
            <a:off x="10058400" y="3867912"/>
            <a:ext cx="914400" cy="0"/>
          </a:xfrm>
          <a:prstGeom prst="line">
            <a:avLst/>
          </a:prstGeom>
          <a:noFill/>
          <a:ln w="2286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1045952" y="3538728"/>
            <a:ext cx="347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3500" dirty="0"/>
          </a:p>
        </p:txBody>
      </p:sp>
      <p:sp>
        <p:nvSpPr>
          <p:cNvPr id="30" name="Text 28"/>
          <p:cNvSpPr/>
          <p:nvPr/>
        </p:nvSpPr>
        <p:spPr>
          <a:xfrm>
            <a:off x="8823960" y="4572000"/>
            <a:ext cx="2423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Взвешенная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505" y="640080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Роутер выбирает экспертов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8505" y="1691640"/>
            <a:ext cx="10515600" cy="0"/>
          </a:xfrm>
          <a:prstGeom prst="line">
            <a:avLst/>
          </a:prstGeom>
          <a:noFill/>
          <a:ln w="25400">
            <a:solidFill>
              <a:srgbClr val="1D9A78"/>
            </a:solidFill>
            <a:prstDash val="solid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3520440" y="6428232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Системы искусственного интеллекта · NLP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4282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" y="1837944"/>
            <a:ext cx="10323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Top-2: оставляем две оценки и делим их на 0,8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33272" y="2788920"/>
            <a:ext cx="1865376" cy="640080"/>
          </a:xfrm>
          <a:prstGeom prst="rect">
            <a:avLst/>
          </a:prstGeom>
          <a:solidFill>
            <a:srgbClr val="E9F5F0"/>
          </a:solidFill>
          <a:ln>
            <a:solidFill>
              <a:srgbClr val="E9F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" y="2862072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E₁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33272" y="3685032"/>
            <a:ext cx="1865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D9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0,55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033272" y="44348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9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0,8 = 0,6875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767328" y="2788920"/>
            <a:ext cx="1865376" cy="640080"/>
          </a:xfrm>
          <a:prstGeom prst="rect">
            <a:avLst/>
          </a:prstGeom>
          <a:solidFill>
            <a:srgbClr val="E9F5F0"/>
          </a:solidFill>
          <a:ln>
            <a:solidFill>
              <a:srgbClr val="E9F5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22192" y="2862072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67328" y="3685032"/>
            <a:ext cx="1865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D9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0,25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767328" y="44348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9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0,8 = 0,3125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501384" y="2788920"/>
            <a:ext cx="1865376" cy="640080"/>
          </a:xfrm>
          <a:prstGeom prst="rect">
            <a:avLst/>
          </a:prstGeom>
          <a:solidFill>
            <a:srgbClr val="F2F3F3"/>
          </a:solidFill>
          <a:ln>
            <a:solidFill>
              <a:srgbClr val="F2F3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2862072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D9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E₃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501384" y="3685032"/>
            <a:ext cx="1865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0,15</a:t>
            </a:r>
            <a:endParaRPr lang="en-US" sz="3400" dirty="0"/>
          </a:p>
        </p:txBody>
      </p:sp>
      <p:sp>
        <p:nvSpPr>
          <p:cNvPr id="18" name="Shape 16"/>
          <p:cNvSpPr/>
          <p:nvPr/>
        </p:nvSpPr>
        <p:spPr>
          <a:xfrm>
            <a:off x="9235440" y="2788920"/>
            <a:ext cx="1865376" cy="640080"/>
          </a:xfrm>
          <a:prstGeom prst="rect">
            <a:avLst/>
          </a:prstGeom>
          <a:solidFill>
            <a:srgbClr val="F2F3F3"/>
          </a:solidFill>
          <a:ln>
            <a:solidFill>
              <a:srgbClr val="F2F3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90304" y="2862072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D9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E₄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235440" y="3685032"/>
            <a:ext cx="1865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0,05</a:t>
            </a:r>
            <a:endParaRPr lang="en-US" sz="3400" dirty="0"/>
          </a:p>
        </p:txBody>
      </p:sp>
      <p:pic>
        <p:nvPicPr>
          <p:cNvPr id="21" name="Image 0" descr="D:\AIS\assets\generated\moe_top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28800" y="5138657"/>
            <a:ext cx="8531352" cy="61319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41248" y="61722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Числа — учебный пример; идея sparse gating: Shazeer et al., 2017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505" y="640080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Switch Transformer: top-1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8505" y="1691640"/>
            <a:ext cx="10515600" cy="0"/>
          </a:xfrm>
          <a:prstGeom prst="line">
            <a:avLst/>
          </a:prstGeom>
          <a:noFill/>
          <a:ln w="25400">
            <a:solidFill>
              <a:srgbClr val="1D9A78"/>
            </a:solidFill>
            <a:prstDash val="solid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3520440" y="6428232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Системы искусственного интеллекта · NLP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4282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" y="1837944"/>
            <a:ext cx="10323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токен проходит через один выбранный FFN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417320" y="5303520"/>
            <a:ext cx="2907792" cy="621792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99616" y="5367528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 flipV="1">
            <a:off x="2871216" y="5001768"/>
            <a:ext cx="0" cy="201168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417320" y="4389120"/>
            <a:ext cx="2907792" cy="621792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99616" y="4453128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+ Norm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 flipV="1">
            <a:off x="2871216" y="4087368"/>
            <a:ext cx="0" cy="201168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417320" y="3474720"/>
            <a:ext cx="2907792" cy="621792"/>
          </a:xfrm>
          <a:prstGeom prst="rect">
            <a:avLst/>
          </a:prstGeom>
          <a:solidFill>
            <a:srgbClr val="E9F5F0"/>
          </a:solidFill>
          <a:ln>
            <a:solidFill>
              <a:srgbClr val="E9F5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99616" y="3538728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FFN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 flipV="1">
            <a:off x="2871216" y="3172968"/>
            <a:ext cx="0" cy="201168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417320" y="2560320"/>
            <a:ext cx="2907792" cy="621792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99616" y="2624328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+ Norm</a:t>
            </a:r>
            <a:endParaRPr lang="en-US" sz="2500" dirty="0"/>
          </a:p>
        </p:txBody>
      </p:sp>
      <p:sp>
        <p:nvSpPr>
          <p:cNvPr id="18" name="Shape 16"/>
          <p:cNvSpPr/>
          <p:nvPr/>
        </p:nvSpPr>
        <p:spPr>
          <a:xfrm flipV="1">
            <a:off x="2871216" y="6025896"/>
            <a:ext cx="0" cy="118872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H="1">
            <a:off x="987552" y="6089904"/>
            <a:ext cx="1883664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 flipV="1">
            <a:off x="987552" y="4700016"/>
            <a:ext cx="0" cy="1389888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87552" y="4700016"/>
            <a:ext cx="30175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H="1">
            <a:off x="987552" y="4261104"/>
            <a:ext cx="1883664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 flipV="1">
            <a:off x="987552" y="2871216"/>
            <a:ext cx="0" cy="1389888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87552" y="2871216"/>
            <a:ext cx="30175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498848" y="3785616"/>
            <a:ext cx="1417320" cy="0"/>
          </a:xfrm>
          <a:prstGeom prst="line">
            <a:avLst/>
          </a:prstGeom>
          <a:noFill/>
          <a:ln w="21590">
            <a:solidFill>
              <a:srgbClr val="1D9A78"/>
            </a:solidFill>
            <a:prstDash val="solid"/>
            <a:tailEnd type="triangle"/>
          </a:ln>
        </p:spPr>
      </p:sp>
      <p:pic>
        <p:nvPicPr>
          <p:cNvPr id="26" name="Image 0" descr="D:\AIS\assets\generated\switch_router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6187" y="2606040"/>
            <a:ext cx="4356635" cy="32461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41248" y="82296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u="sng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Fedus, Zoph, Shazeer · JMLR 2022 · фрагмент рис. 2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20440" y="6428232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Системы искусственного интеллекта · NLP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972800" y="64282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38505" y="658368"/>
            <a:ext cx="10515600" cy="1188720"/>
          </a:xfrm>
          <a:prstGeom prst="rect">
            <a:avLst/>
          </a:prstGeom>
          <a:solidFill>
            <a:srgbClr val="1D9A78"/>
          </a:solidFill>
          <a:ln>
            <a:solidFill>
              <a:srgbClr val="1D9A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777240"/>
            <a:ext cx="100401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Достаточно ли добавить экспертов?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969264" y="2130552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Восемь токенов выбрали одного эксперта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33272" y="5001768"/>
            <a:ext cx="1865376" cy="667512"/>
          </a:xfrm>
          <a:prstGeom prst="rect">
            <a:avLst/>
          </a:prstGeom>
          <a:solidFill>
            <a:srgbClr val="E9F5F0"/>
          </a:solidFill>
          <a:ln>
            <a:solidFill>
              <a:srgbClr val="E9F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" y="5074920"/>
            <a:ext cx="17556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E₁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316736" y="4434840"/>
            <a:ext cx="594360" cy="338328"/>
          </a:xfrm>
          <a:prstGeom prst="rect">
            <a:avLst/>
          </a:prstGeom>
          <a:solidFill>
            <a:srgbClr val="1D9A78"/>
          </a:solidFill>
          <a:ln>
            <a:solidFill>
              <a:srgbClr val="1D9A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02536" y="4434840"/>
            <a:ext cx="594360" cy="338328"/>
          </a:xfrm>
          <a:prstGeom prst="rect">
            <a:avLst/>
          </a:prstGeom>
          <a:solidFill>
            <a:srgbClr val="1D9A78"/>
          </a:solidFill>
          <a:ln>
            <a:solidFill>
              <a:srgbClr val="1D9A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16736" y="3968496"/>
            <a:ext cx="594360" cy="338328"/>
          </a:xfrm>
          <a:prstGeom prst="rect">
            <a:avLst/>
          </a:prstGeom>
          <a:solidFill>
            <a:srgbClr val="1D9A78"/>
          </a:solidFill>
          <a:ln>
            <a:solidFill>
              <a:srgbClr val="1D9A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02536" y="3968496"/>
            <a:ext cx="594360" cy="338328"/>
          </a:xfrm>
          <a:prstGeom prst="rect">
            <a:avLst/>
          </a:prstGeom>
          <a:solidFill>
            <a:srgbClr val="1D9A78"/>
          </a:solidFill>
          <a:ln>
            <a:solidFill>
              <a:srgbClr val="1D9A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16736" y="3502152"/>
            <a:ext cx="594360" cy="338328"/>
          </a:xfrm>
          <a:prstGeom prst="rect">
            <a:avLst/>
          </a:prstGeom>
          <a:solidFill>
            <a:srgbClr val="1D9A78"/>
          </a:solidFill>
          <a:ln>
            <a:solidFill>
              <a:srgbClr val="1D9A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02536" y="3502152"/>
            <a:ext cx="594360" cy="338328"/>
          </a:xfrm>
          <a:prstGeom prst="rect">
            <a:avLst/>
          </a:prstGeom>
          <a:solidFill>
            <a:srgbClr val="1D9A78"/>
          </a:solidFill>
          <a:ln>
            <a:solidFill>
              <a:srgbClr val="1D9A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16736" y="3035808"/>
            <a:ext cx="594360" cy="338328"/>
          </a:xfrm>
          <a:prstGeom prst="rect">
            <a:avLst/>
          </a:prstGeom>
          <a:solidFill>
            <a:srgbClr val="1D9A78"/>
          </a:solidFill>
          <a:ln>
            <a:solidFill>
              <a:srgbClr val="1D9A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02536" y="3035808"/>
            <a:ext cx="594360" cy="338328"/>
          </a:xfrm>
          <a:prstGeom prst="rect">
            <a:avLst/>
          </a:prstGeom>
          <a:solidFill>
            <a:srgbClr val="1D9A78"/>
          </a:solidFill>
          <a:ln>
            <a:solidFill>
              <a:srgbClr val="1D9A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67328" y="5001768"/>
            <a:ext cx="1865376" cy="667512"/>
          </a:xfrm>
          <a:prstGeom prst="rect">
            <a:avLst/>
          </a:prstGeom>
          <a:solidFill>
            <a:srgbClr val="F2F3F3"/>
          </a:solidFill>
          <a:ln>
            <a:solidFill>
              <a:srgbClr val="F2F3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22192" y="5074920"/>
            <a:ext cx="17556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D9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E₂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767328" y="417880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6501384" y="5001768"/>
            <a:ext cx="1865376" cy="667512"/>
          </a:xfrm>
          <a:prstGeom prst="rect">
            <a:avLst/>
          </a:prstGeom>
          <a:solidFill>
            <a:srgbClr val="F2F3F3"/>
          </a:solidFill>
          <a:ln>
            <a:solidFill>
              <a:srgbClr val="F2F3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6248" y="5074920"/>
            <a:ext cx="17556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D9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E₃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501384" y="417880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9235440" y="5001768"/>
            <a:ext cx="1865376" cy="667512"/>
          </a:xfrm>
          <a:prstGeom prst="rect">
            <a:avLst/>
          </a:prstGeom>
          <a:solidFill>
            <a:srgbClr val="F2F3F3"/>
          </a:solidFill>
          <a:ln>
            <a:solidFill>
              <a:srgbClr val="F2F3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90304" y="5074920"/>
            <a:ext cx="17556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D9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E₄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235440" y="417880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505" y="640080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Балансировка загрузки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8505" y="1691640"/>
            <a:ext cx="10515600" cy="0"/>
          </a:xfrm>
          <a:prstGeom prst="line">
            <a:avLst/>
          </a:prstGeom>
          <a:noFill/>
          <a:ln w="25400">
            <a:solidFill>
              <a:srgbClr val="1D9A78"/>
            </a:solidFill>
            <a:prstDash val="solid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3520440" y="6428232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Системы искусственного интеллекта · NLP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4282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2688" y="1837944"/>
            <a:ext cx="10323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Одинаковое число экспертов — разные маршруты токенов</a:t>
            </a:r>
            <a:endParaRPr lang="en-US" sz="2800" dirty="0"/>
          </a:p>
        </p:txBody>
      </p:sp>
      <p:pic>
        <p:nvPicPr>
          <p:cNvPr id="7" name="Image 0" descr="D:\AIS\assets\generated\expert_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7687" y="2578608"/>
            <a:ext cx="7917003" cy="3337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61722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u="sng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Учебная иллюстрация. Методы балансировки: Fedus et al., 2022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Mixture of Experts</dc:title>
  <dc:subject>Mixture of Experts</dc:subject>
  <dc:creator>Курс СИИ · NLP</dc:creator>
  <cp:lastModifiedBy>Курс СИИ · NLP</cp:lastModifiedBy>
  <cp:revision>1</cp:revision>
  <dcterms:created xsi:type="dcterms:W3CDTF">2026-09-08T03:29:45Z</dcterms:created>
  <dcterms:modified xsi:type="dcterms:W3CDTF">2026-09-08T03:29:45Z</dcterms:modified>
</cp:coreProperties>
</file>