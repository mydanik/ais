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L06-S01
- Связать готовые параметры с ручными матрицами прошлой лекции.
- Энкодер даёт представление, а нашим категориям ещё нужно обучить классификатор.
Фрагмент лекции: На второй лекции классификатор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L06-S01
- Архитектура задаёт вычисления, веса — обученные значения параметров, наша разметка — категории отделов.
- Попросить отнести число слоёв, матрицу W и метку library к нужному уровню.
Фрагмент лекции: Здесь полезно различать архитектуру,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L06-S02
- Левое окружение говорит о помещении книги, правое — о переноске.
- В MLM обе стороны доступны.
- В причинном предсказании правая часть ещё неизвестна.
Фрагмент лекции: В предложении «Студент положил книгу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L06-S02
- 15% относится ко всем токенам; 80/10/10 — к выбранным целям.
- Для условных 1000 токенов получаем около 150 целей, из них 120/15/15.
- Это исходная схема BERT, не утверждение об идентичном обучении rubert-tiny2.
- Затем различить MASK, padding и causal-маску.
Фрагмент лекции: В исходном BERT выбирали 15% токенов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L06-S02
- Назвать действие каждого механизма на конкретном входе: заменить содержимое, исключить технические ключи, закрыть будущее.
- При классификации обычного текста вставлять MASK не требуется.
Фрагмент лекции: Слово «маска» здесь легко перепутать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L06-S03
- Показан реальный разбор вопроса «Как продлить книгу?» токенизатором rubert-tiny2: шесть позиций с CLS и SEP.
- Идентификаторы относятся к словарю этой модели; чужие номера подставлять нельзя.
- Затем добавим короткое «Спасибо» и соберём пакет из двух строк.
Фрагмент лекции: На первой лекции один адрес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L06-S03
- В демонстрационном пакете два текста. Их полные длины 6 и 3, после padding L=6.
- Маска вопроса состоит из шести единиц. Для «Спасибо» — три единицы и три нуля.
- Единицы учитывают и специальные позиции. Энкодер вернёт вектор каждой позиции.
Фрагмент лекции: Чтобы подать несколько текстов одним пакетом,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L06-S04
- Общая форма B×L×312. У показанного пакета B=2, L=6.
- Последняя ось — координаты одного вектора, средняя — позиции, первая — тексты.
- Для классификации нужно выбрать один вектор на текст.
Фрагмент лекции: Энкодер возвращает `last_hidden_state`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L06-S04
- hidden[:,0,:] сохраняет обе строки пакета и выбирает CLS; форма 2×312.
- L2-нормировка выполняется по оси признаков. CLS рекомендован автором именно этого checkpoint.
- Отдельный пример среднего покажет, почему padding нужно учитывать явно.
Фрагмент лекции: В нашем опыте используется нормированный CLS,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L06-S04
- Три ручных вектора; последний обозначает padding.
- Предсказать влияние (9;9) на среднее, затем применить маску.
- Это иллюстрация mean pooling, основной классификатор по-прежнему использует CLS.
- Следующий кадр показывает оба результата.
Фрагмент лекции: У других моделей может быть рекомендовано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L06-S04
- Обычное среднее делит сумму трёх строк на 3.
- Masked mean суммирует первые две строки и делит на 2.
- Для пустой маски нужно отдельное правило.
- Далее определим, какие параметры будут изменяться при обучении модели для нашей задачи.
Фрагмент лекции: Обычное среднее всех трёх равно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L06-S05
- В первой строке обучается только классификатор.
- При полном fine-tuning меняются и параметры энкодера.
- Показаны три варианта обучения; в работе используется первый.
Фрагмент лекции: Самый прямой вариант переноса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L06-S05
- eval переключает dropout, requires_grad задаёт необходимость градиента параметров, inference_mode управляет проходом без обычного графа.
- Одно действие не заменяет остальные.
Фрагмент лекции: В коде встречаются три похожих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L06-S06
- Проследить формы для тех же двух текстов: input_ids 2×6, hidden 2×6×312, признаки 2×312.
- Код в полном тексте дополнительно задаёт режим применения, заморозку и переход в NumPy.
- Теперь сравнить две почти одинаковые записи индекса.
Фрагмент лекции: Рассмотрим один проход от списка строк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L06-S06
- Для B=2 сравнить две формы.
- Один и тот же код на пакете из одного текста может скрыть ошибку, поэтому проверяется количество выходных строк.
Фрагмент лекции: Если случайно написать `hidden[0, 0, :]`,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L06-S07
- По заданной инструкции имя включает первые два слова, организация — последние два.
- B начинает сущность, I продолжает её, O стоит вне сущностей.
- Это ручная разметка, не предсказание rubert-tiny2.
- Затем проверим частично найденное имя.
Фрагмент лекции: Теперь изменим форму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L06-S07
- При строгом совпадении «Петрова» вместо «Анна Петрова» даёт один FP и один FN.
- Если допускаются частичные совпадения, критерий задаётся отдельно и заранее.
- Ещё одна проблема границ появляется при разбиении слова на подтокены.
Фрагмент лекции: Допустим, эталон — «Анна Петрова»,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L06-S07
- Показан один вариант: обучаем метку первого подтокена, остальные исключаем из потери.
- Нужна связь подтокенов с исходным словом; другой вариант BIO может размечать все части.
- Дальше вернёмся к результатам классификации обращений.
Фрагмент лекции: Слово может разбиться на несколько токенов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L06-S08
- Две заранее заданные системы сравниваются на 120 тестовых строках.
- Классификаторы одного семейства с одинаковым C обучены отдельно на своих признаках.
- Общие показатели улучшились.
- Далее проверить recall конкретной категории.
Фрагмент лекции: Сравним две заранее заданные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L06-S08
- У поступления 20 тестовых строк: верно распознаны 8, потеряны 12.
- Все ошибки энкодера в данном тесте относятся к этому классу.
- Accuracy 0,90 скрывает локальную слабость.
- Затем проверить, могло ли её объяснить усечение.
Фрагмент лекции: В показанных вариантах система на основе TF-IDF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L06-S09
- У 600 основных обращений длины от 8 до 21 токена; при пределе 128 усечений нет.
- Их ошибки нельзя объяснить отрезанным концом.
- Следующий длинный пример построен отдельно для диагностики.
Фрагмент лекции: В основном корпусе полные длины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L06-S09
- Точная повторяемая строка: «Уточняю ранее отправленный вопрос. » — с точкой и пробелом.
- После 80 повторов добавлена просьба о книге.
- Полный вход содержит 566 токенов, усечённый — 128; просьба исчезла.
- Сравниваются длина полного входа и число токенов после усечения.
- Далее отличить эту причину ошибки от других.
Фрагмент лекции: Построим отдельный диагностический текст: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L06-S09
- Различить потерю входа, неоднозначность самого сообщения и неверное использование доступных сведений.
- Пример про документы по почте относится к достаточности контекста.
- Затем завершить весь путь классификации.
Фрагмент лекции: Есть и другой недостаток входа: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L06-S10
- Токенизатор и энкодер взяты из готового комплекта; логистическая регрессия обучена по нашему train.
- CLS — промежуточный вектор, отдел выбирает классификатор.
- Для NER понадобился бы другой выход.
- Следующая лекция добавляет инструкцию и свободную генерацию.
Фрагмент лекции: Теперь путь обращения выглядит так: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79661" y="1488034"/>
            <a:ext cx="596201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Предобученный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641304" y="2338934"/>
            <a:ext cx="303339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энкодер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3379" y="3814070"/>
            <a:ext cx="3749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восстановления слов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92772" y="4239520"/>
            <a:ext cx="45161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 классификации обращений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64716" y="501663"/>
            <a:ext cx="89954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Архитектура, веса и наша задача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19672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48450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Какие вычисления выполняются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7797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Веса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54483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Какие преобразования уже обучены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1945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Наша система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686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Токенизатор, pooling и классификатор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520942" y="5647404"/>
            <a:ext cx="52819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rubert-tiny2: 3 слоя · 12 голов · 312 координат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654352" y="6034957"/>
            <a:ext cx="27362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Конфигурация закреплённой модели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49559" y="501663"/>
            <a:ext cx="9799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Восстановление видит обе стороны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35137"/>
            <a:ext cx="503047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«Студент положил книгу в 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72960" y="2135137"/>
            <a:ext cx="2095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2655837"/>
            <a:ext cx="441261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чтобы нести её домой»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12631" y="2135137"/>
            <a:ext cx="146113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[MASK]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914400" y="4225004"/>
            <a:ext cx="28232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Исходное слово — цель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4669434"/>
            <a:ext cx="135509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сумку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400800" y="4225004"/>
            <a:ext cx="26276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Доступное окружение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400800" y="4675981"/>
            <a:ext cx="27031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Слева и справа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24078" y="5647404"/>
            <a:ext cx="50603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пример masked language modeling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791557" y="501663"/>
            <a:ext cx="87255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Выбранные цели не все скрыты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6495" y="1773066"/>
            <a:ext cx="767778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Исходный BERT: из 1000 токенов выбираем около 150 целей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08284" y="2518023"/>
            <a:ext cx="22282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Заменены [MASK]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78953" y="2988602"/>
            <a:ext cx="148780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120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1564342" y="4237704"/>
            <a:ext cx="1917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80% выбранных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069942" y="2518023"/>
            <a:ext cx="21583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Случайный токен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97360" y="2988602"/>
            <a:ext cx="89852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15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5188071" y="4237704"/>
            <a:ext cx="1917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10% выбранных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920544" y="2518023"/>
            <a:ext cx="1698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изменены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1102" y="2988602"/>
            <a:ext cx="89852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66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15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8811832" y="4237704"/>
            <a:ext cx="1917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10% выбранных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785167" y="5647404"/>
            <a:ext cx="67367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15% относятся ко всем токенам; 80/10/10 — к выбранным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86750" y="6034957"/>
            <a:ext cx="30975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Devlin et al., 2019 · ожидаемые пропорции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12529" y="501663"/>
            <a:ext cx="65227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Три разные роли маски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4152" y="2408904"/>
            <a:ext cx="8216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Маска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40207" y="2408904"/>
            <a:ext cx="13722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меняет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92585" y="2811609"/>
            <a:ext cx="11004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[MASK]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62600" y="2811609"/>
            <a:ext cx="47453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Содержимое выбранного токена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767421" y="3294209"/>
            <a:ext cx="19570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Padding mask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97106" y="3294209"/>
            <a:ext cx="4660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 к техническим позициям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68513" y="3776809"/>
            <a:ext cx="174688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Causal mask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51525" y="3776809"/>
            <a:ext cx="41649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Доступ к будущим позициям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26644" y="5647404"/>
            <a:ext cx="56470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Одинаковое слово обозначает разные операции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82922" y="501663"/>
            <a:ext cx="94126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Токены принадлежат этой модели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8018" y="1773066"/>
            <a:ext cx="2965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 продлить книгу?»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15250" y="2876474"/>
            <a:ext cx="2241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044000" y="2876474"/>
            <a:ext cx="2241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82350" y="2876474"/>
            <a:ext cx="2241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01699" y="2876474"/>
            <a:ext cx="2241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930450" y="2876474"/>
            <a:ext cx="2241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263950" y="2876474"/>
            <a:ext cx="2241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41685" y="3249759"/>
            <a:ext cx="77025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[CLS]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860402" y="3249759"/>
            <a:ext cx="5918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80846" y="3249759"/>
            <a:ext cx="143446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продлить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76707" y="3249759"/>
            <a:ext cx="8731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книгу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15019" y="3249759"/>
            <a:ext cx="2546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982010" y="3249759"/>
            <a:ext cx="787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[SEP]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896506" y="5647404"/>
            <a:ext cx="44983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Шесть позиций, включая специальные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68235" y="6034957"/>
            <a:ext cx="39458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Токенизатор rubert-tiny2 · реальные названия токенов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63241" y="501663"/>
            <a:ext cx="75761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Padding выравнивает пакет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29305" y="1773066"/>
            <a:ext cx="54584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attention_mask · два текста, шесть позиций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188572" y="2408904"/>
            <a:ext cx="70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574261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780761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72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1937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4002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606786" y="2408904"/>
            <a:ext cx="236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38586" y="2814466"/>
            <a:ext cx="19805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 о книге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567828" y="281446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774328" y="281446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980809" y="281446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187309" y="281446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393809" y="281446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600309" y="281446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956911" y="3252616"/>
            <a:ext cx="11404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Спасибо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4567828" y="325261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5774328" y="325261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6980809" y="325261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8187309" y="325261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9393809" y="325261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10600309" y="3252616"/>
            <a:ext cx="2495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3278200" y="5647404"/>
            <a:ext cx="5760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— позиция входа, 0 — техническое дополнение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94484" y="501663"/>
            <a:ext cx="77038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Вектор для каждой позиции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37563" y="1773066"/>
            <a:ext cx="22339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last_hidden_state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35156" y="2518023"/>
            <a:ext cx="11798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B: тексты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91874" y="2984068"/>
            <a:ext cx="6623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0"/>
              </a:lnSpc>
              <a:buNone/>
            </a:pPr>
            <a:r>
              <a:rPr lang="en-US" sz="7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60257" y="2518023"/>
            <a:ext cx="137223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L: позиции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99087" y="2984068"/>
            <a:ext cx="695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0"/>
              </a:lnSpc>
              <a:buNone/>
            </a:pPr>
            <a:r>
              <a:rPr lang="en-US" sz="7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8986330" y="2518023"/>
            <a:ext cx="157924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Координаты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998204" y="2984068"/>
            <a:ext cx="1544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0"/>
              </a:lnSpc>
              <a:buNone/>
            </a:pPr>
            <a:r>
              <a:rPr lang="en-US" sz="7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312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903409" y="5647404"/>
            <a:ext cx="44958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 показанного пакета: 2 × 6 × 312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76203" y="501663"/>
            <a:ext cx="85445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CLS выбирается у всех текстов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04319" y="2348382"/>
            <a:ext cx="67246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CLS находится в позиции 0 каждого текста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675367" y="3261741"/>
            <a:ext cx="493903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hidden[:, 0, :] → 2 × 312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3571030" y="4461770"/>
            <a:ext cx="515747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L2-нормировка по оси признаков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53871" y="6034957"/>
            <a:ext cx="40411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Способ pooling, рекомендованный автором rubert-tiny2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79129" y="501663"/>
            <a:ext cx="7556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Padding попадает в среднее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42454" y="1773066"/>
            <a:ext cx="42303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Отдельный пример mean pooling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53635" y="2408904"/>
            <a:ext cx="1079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Позиция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653748" y="2408904"/>
            <a:ext cx="8870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03068" y="2408904"/>
            <a:ext cx="10953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Маска 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246598" y="2809926"/>
            <a:ext cx="29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42248" y="2809926"/>
            <a:ext cx="9074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(1; 0)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01467" y="2809926"/>
            <a:ext cx="29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46598" y="3356026"/>
            <a:ext cx="29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42248" y="3356026"/>
            <a:ext cx="9074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(0; 1)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701467" y="3356026"/>
            <a:ext cx="29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31168" y="3902126"/>
            <a:ext cx="753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42248" y="3902126"/>
            <a:ext cx="90741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(9; 9)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01467" y="3902126"/>
            <a:ext cx="294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724614" y="5647404"/>
            <a:ext cx="68649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Маска ключей не обязана занулять выход padding-позиции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583295" y="6034957"/>
            <a:ext cx="28047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Учебные векторы для ручного расчёта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32247" y="501663"/>
            <a:ext cx="76428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Маска выбирает слагаемые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3808" y="2397373"/>
            <a:ext cx="2057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три позиции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78735" y="2918720"/>
            <a:ext cx="18497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(10/3; 10/3)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38052" y="3534670"/>
            <a:ext cx="273240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≈ (3,3333; 3,3333)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256145" y="2397373"/>
            <a:ext cx="33039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выбранные маской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212" y="2917031"/>
            <a:ext cx="168529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(1/2; 1/2)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954582" y="3596481"/>
            <a:ext cx="18694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(0,5; 0,5)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67518" y="5647404"/>
            <a:ext cx="37668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Masked mean = Σ m_t h_t / Σ m_t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07730" y="501663"/>
            <a:ext cx="82981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Что меняется при дообучении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28365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Готовые признаки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542417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Учится только новый классификатор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17233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Fine-tuning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45681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Меняются и энкодер, и голова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62699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Адаптеры / LoRA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85279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Учится ограниченная часть параметров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109295" y="5647404"/>
            <a:ext cx="40976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этой работе энкодер фиксирован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20742" y="501663"/>
            <a:ext cx="848804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Три настройки решают разное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11900" y="2408904"/>
            <a:ext cx="8051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Вызов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95807" y="2408904"/>
            <a:ext cx="18167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регулирует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935713" y="2814466"/>
            <a:ext cx="7626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eval()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70619" y="2814466"/>
            <a:ext cx="488124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Поведение модулей, включая dropout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981683" y="3252616"/>
            <a:ext cx="268541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requires_grad_(False)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330626" y="3252616"/>
            <a:ext cx="43294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Нужны ли градиенты параметрам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203044" y="3690766"/>
            <a:ext cx="2235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inference_mode()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743510" y="3690766"/>
            <a:ext cx="35140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Построение графа autograd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090418" y="5647404"/>
            <a:ext cx="61182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фиксированных признаков задаём условия явно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66961" y="501663"/>
            <a:ext cx="63595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пакета к признакам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33368" y="1773066"/>
            <a:ext cx="46634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 же два демонстрационных текста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24229" y="2771826"/>
            <a:ext cx="21551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Токенизатор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2877" y="3416224"/>
            <a:ext cx="57594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× 6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08974" y="2771826"/>
            <a:ext cx="14941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Энкодер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60733" y="3416224"/>
            <a:ext cx="117284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× 6 × 312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34729" y="2771826"/>
            <a:ext cx="13557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CLS + L2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402699" y="3416224"/>
            <a:ext cx="82105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× 312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2836475" y="5647404"/>
            <a:ext cx="66427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Сохраняем порядок текстов и соответствующих им меток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82934" y="501663"/>
            <a:ext cx="91782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Индекс меняет форму результата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29330" y="2408904"/>
            <a:ext cx="14281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Выражение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06460" y="2408904"/>
            <a:ext cx="18332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 при B=2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051569" y="2807075"/>
            <a:ext cx="2379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hidden[:, 0, :]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8748459" y="2807075"/>
            <a:ext cx="135064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× 312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3001435" y="3397625"/>
            <a:ext cx="248031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hidden[0, 0, :]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053957" y="3397625"/>
            <a:ext cx="7397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312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405041" y="5647404"/>
            <a:ext cx="55035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 втором случае остаётся только первый текст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85738" y="501663"/>
            <a:ext cx="59213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NER: границы и типы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4765" y="1773066"/>
            <a:ext cx="370776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BIO-разметка на уровне слов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360761" y="2408904"/>
            <a:ext cx="6692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Анна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731592" y="2408904"/>
            <a:ext cx="1039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Петрова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390873" y="2408904"/>
            <a:ext cx="8343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учится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771712" y="2408904"/>
            <a:ext cx="2292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74396" y="2408904"/>
            <a:ext cx="16395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университете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49053" y="2408904"/>
            <a:ext cx="7772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Север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94359" y="2814466"/>
            <a:ext cx="8026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B-PER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2892755" y="2814466"/>
            <a:ext cx="717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I-PER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659446" y="2814466"/>
            <a:ext cx="295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738946" y="2814466"/>
            <a:ext cx="2952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349554" y="2814466"/>
            <a:ext cx="8864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B-ORG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9938576" y="2814466"/>
            <a:ext cx="80137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I-ORG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3166986" y="5647404"/>
            <a:ext cx="59861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Границы задаются принятой инструкцией разметки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370701" y="6034957"/>
            <a:ext cx="50272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Ручной пример · классификационная голова не является NER-головой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06366" y="501663"/>
            <a:ext cx="93256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Граница имени тоже часть ответа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10813" y="1773066"/>
            <a:ext cx="44811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Пример строгой оценки сущностей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87453" y="2397373"/>
            <a:ext cx="143129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Эталон PER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98821" y="2912491"/>
            <a:ext cx="300926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Анна Петрова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823391" y="2397373"/>
            <a:ext cx="2143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Предсказано PER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68552" y="2912491"/>
            <a:ext cx="184404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3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Петрова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3010198" y="5647404"/>
            <a:ext cx="63068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Тип совпал; точные границы — нет: один FP и один FN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11500" y="501663"/>
            <a:ext cx="63030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слова к подтокенам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53963" y="1773066"/>
            <a:ext cx="68249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из способов согласования меток с подтокенами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302732" y="2397373"/>
            <a:ext cx="221742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Первый подтокен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91818" y="2918720"/>
            <a:ext cx="36480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Метка исходного слова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40471" y="3534670"/>
            <a:ext cx="29425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Участвует в потере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514527" y="2397373"/>
            <a:ext cx="27660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Остальные подтокены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80326" y="2918720"/>
            <a:ext cx="34245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Исключены из потери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6857" y="3534670"/>
            <a:ext cx="40754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этом варианте разметки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5335" y="5647404"/>
            <a:ext cx="69996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Нужна связь с исходным словом или символьные смещения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35384" y="501663"/>
            <a:ext cx="744791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Качество на тесте выросло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78150" y="2408904"/>
            <a:ext cx="1203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792532" y="2408904"/>
            <a:ext cx="1076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Accuracy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425178" y="2408904"/>
            <a:ext cx="114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Macro-F1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45049" y="2812777"/>
            <a:ext cx="22682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 char_wb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99771" y="2812777"/>
            <a:ext cx="1057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0,7917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466771" y="2812777"/>
            <a:ext cx="1057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0,7652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310727" y="3314427"/>
            <a:ext cx="235648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CLS rubert-tiny2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799771" y="3314427"/>
            <a:ext cx="1057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0,9000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466771" y="3314427"/>
            <a:ext cx="10572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0,8863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324949" y="5647404"/>
            <a:ext cx="56654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Фиксированные системы, одинаковый test и C=1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274495" y="6034957"/>
            <a:ext cx="3114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6 · 120 тестовых обращений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84349" y="501663"/>
            <a:ext cx="73425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Recall поступления — 0,40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75562" y="1773066"/>
            <a:ext cx="274383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Класс «поступление»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264696" y="2518023"/>
            <a:ext cx="232664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Верно распознаны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09006" y="2993288"/>
            <a:ext cx="243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4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 / 20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2698299" y="4212304"/>
            <a:ext cx="14674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 = 0,40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909814" y="2518023"/>
            <a:ext cx="19100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Ошибки класса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24482" y="2993288"/>
            <a:ext cx="88074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80"/>
              </a:lnSpc>
              <a:buNone/>
            </a:pPr>
            <a:r>
              <a:rPr lang="en-US" sz="64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7153275" y="4212304"/>
            <a:ext cx="3445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Направлены в другие отделы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27019" y="5647404"/>
            <a:ext cx="58502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Общая accuracy = 0,90 не описывает каждый класс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4211" y="501663"/>
            <a:ext cx="79235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Короткие тексты не усечены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1356" y="1773066"/>
            <a:ext cx="4618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корпус из 600 обращений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56918" y="2518023"/>
            <a:ext cx="295084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Длина со спецтокенами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39632" y="2989434"/>
            <a:ext cx="2012315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0"/>
              </a:lnSpc>
              <a:buNone/>
            </a:pPr>
            <a:r>
              <a:rPr lang="en-US" sz="67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8–21</a:t>
            </a:r>
            <a:endParaRPr lang="en-US" sz="6700" dirty="0"/>
          </a:p>
        </p:txBody>
      </p:sp>
      <p:sp>
        <p:nvSpPr>
          <p:cNvPr id="10" name="Text 8"/>
          <p:cNvSpPr/>
          <p:nvPr/>
        </p:nvSpPr>
        <p:spPr>
          <a:xfrm>
            <a:off x="2925280" y="4256754"/>
            <a:ext cx="1012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токенов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35772" y="2518023"/>
            <a:ext cx="107251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Усечено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17573" y="2989434"/>
            <a:ext cx="694055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0"/>
              </a:lnSpc>
              <a:buNone/>
            </a:pPr>
            <a:r>
              <a:rPr lang="en-US" sz="67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</a:t>
            </a:r>
            <a:endParaRPr lang="en-US" sz="6700" dirty="0"/>
          </a:p>
        </p:txBody>
      </p:sp>
      <p:sp>
        <p:nvSpPr>
          <p:cNvPr id="13" name="Text 11"/>
          <p:cNvSpPr/>
          <p:nvPr/>
        </p:nvSpPr>
        <p:spPr>
          <a:xfrm>
            <a:off x="7488492" y="4256754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 пределе опыта 128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813952" y="5647404"/>
            <a:ext cx="66757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Основные ошибки нельзя объяснить отрезанным концом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61456" y="501663"/>
            <a:ext cx="70377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Усечение убрало просьбу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76361" y="1773066"/>
            <a:ext cx="83553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80 повторов вступления и просьба «Как продлить книгу?» в конце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601252" y="2518023"/>
            <a:ext cx="16738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Полный вход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43404" y="2987923"/>
            <a:ext cx="177038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80"/>
              </a:lnSpc>
              <a:buNone/>
            </a:pPr>
            <a:r>
              <a:rPr lang="en-US" sz="69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566</a:t>
            </a:r>
            <a:endParaRPr lang="en-US" sz="6900" dirty="0"/>
          </a:p>
        </p:txBody>
      </p:sp>
      <p:sp>
        <p:nvSpPr>
          <p:cNvPr id="10" name="Text 8"/>
          <p:cNvSpPr/>
          <p:nvPr/>
        </p:nvSpPr>
        <p:spPr>
          <a:xfrm>
            <a:off x="2925280" y="4288504"/>
            <a:ext cx="1012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токенов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878445" y="2518023"/>
            <a:ext cx="197231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усечения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09966" y="2987923"/>
            <a:ext cx="150876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280"/>
              </a:lnSpc>
              <a:buNone/>
            </a:pPr>
            <a:r>
              <a:rPr lang="en-US" sz="69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128</a:t>
            </a:r>
            <a:endParaRPr lang="en-US" sz="6900" dirty="0"/>
          </a:p>
        </p:txBody>
      </p:sp>
      <p:sp>
        <p:nvSpPr>
          <p:cNvPr id="13" name="Text 11"/>
          <p:cNvSpPr/>
          <p:nvPr/>
        </p:nvSpPr>
        <p:spPr>
          <a:xfrm>
            <a:off x="7428484" y="4288504"/>
            <a:ext cx="28778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просьба о книге исчезла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28842" y="5647404"/>
            <a:ext cx="58566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Маска не восстанавливает удалённую часть текста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673719" y="6034957"/>
            <a:ext cx="27184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Отдельный диагностический пример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697137" y="501663"/>
            <a:ext cx="68973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Найдём причину ошибки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292077"/>
            <a:ext cx="151066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Отрезано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52900" y="2292077"/>
            <a:ext cx="5191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Нужная часть не дошла до модели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2984227"/>
            <a:ext cx="175704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указано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152900" y="2984227"/>
            <a:ext cx="51295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сообщении не хватает контекста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3676377"/>
            <a:ext cx="26606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использовано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152900" y="3676377"/>
            <a:ext cx="586168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Сведения были, но решение ошибочно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581497" y="5647404"/>
            <a:ext cx="71323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Этим случаям нужны разные изменения системы или данных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27200" y="501663"/>
            <a:ext cx="924941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токенов к прикладному ответу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2386" y="2771826"/>
            <a:ext cx="1254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 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27950" y="3229026"/>
            <a:ext cx="211709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токенизатор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08968" y="2771826"/>
            <a:ext cx="14941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Энкодер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71579" y="3229026"/>
            <a:ext cx="1549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 pooling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79522" y="2771826"/>
            <a:ext cx="18681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Обученная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220898" y="3229026"/>
            <a:ext cx="11931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голова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566849" y="3873424"/>
            <a:ext cx="251396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из шести отделов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696885" y="5647404"/>
            <a:ext cx="89192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Предобученные параметры и прикладное обучение выполняют разные роли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Предобученный энкодер</dc:title>
  <dc:subject>Предобученный энкодер</dc:subject>
  <dc:creator>Курс СИИ · NLP</dc:creator>
  <cp:lastModifiedBy>Курс СИИ · NLP</cp:lastModifiedBy>
  <cp:revision>1</cp:revision>
  <dcterms:created xsi:type="dcterms:W3CDTF">2026-09-21T15:42:44Z</dcterms:created>
  <dcterms:modified xsi:type="dcterms:W3CDTF">2026-09-21T15:42:44Z</dcterms:modified>
</cp:coreProperties>
</file>