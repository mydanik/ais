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L04-S01
- Предложить несколько продолжений.
- Сопоставить учебник, дверь, окно и кабинет.
- Контекст делает одни варианты естественнее.
- Модель сначала выдаёт распределение, а затем выбирается токен.
Фрагмент лекции: Начнём с фразы «Студент открыл…».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L04-S01
- Здесь варианты без чисел, потому что конкретная модель ещё не определена.
- Префикс один, продолжений несколько.
- После выбора следующий шаг получает уже дополненный текст.
Фрагмент лекции: Языковая модель задаёт распределение вероятностей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L04-S01
- BOS подаётся в начале, EOS предсказывается как конец.
- Для пустого текста остаётся цель EOS.
- Затем оценим вероятность конкретного пути.
Фрагмент лекции: Пока договоримся о границах.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L04-S02
- Три события: первый токен, второй и EOS.
- Вероятности относятся к соответствующим историям.
- Различать сумму альтернатив внутри шага и произведение вдоль пути.
Фрагмент лекции: Для последовательности w₁,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L04-S03
- Униграмма не видит историю, биграмма видит один предыдущий токен, триграмма два.
- Таблица относится к языковому моделированию, не к признакам документа из L02.
Фрагмент лекции: Униграммная модель, n=1,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L04-S03
- Общий префикс студент встречается три раза.
- Два продолжения читает и одно возвращает.
- В следующем кадре разделим эти количества на число всех продолжений истории.
Фрагмент лекции: Возьмём три предложения: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L04-S03
- После «студент» два наблюдения «читает», одно «возвращает».
- После «читает» два разных продолжения по одному.
- Попросить достроить переходы к EOS после «книгу» и «журнал».
- Далее обнаружим нулевую оценку нового перехода.
Фрагмент лекции: Биграммная оценка даёт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L04-S04
- Оба слова известны, но сочетание не встретилось.
- Один нулевой множитель обнуляет вероятность текста.
- Нужен способ выделить массу ненаблюдавшимся продолжениям.
Фрагмент лекции: В мини-корпусе переход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L04-S04
- Добавляем alpha каждому возможному продолжению.
- В знаменателе alpha умножается на размер выходного словаря.
- Сглаживание перераспределяет массу.
- На следующем слайде вычислим семь конкретных вероятностей.
Фрагмент лекции: При сглаживании add-alpha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L04-S04
- Ручной пример: alpha=1, семь элементов словаря.
- «Читает» получает 0,3, «возвращает» — 0,2, пять остальных — по 0,1.
- В словарь входят студент, читает, возвращает, книгу, журнал, EOS, UNK; BOS исключён.
- После проверки суммы перейти к тому, какие слова скрываются за UNK.
Фрагмент лекции: Для ручного примера положим α=1.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L04-S04
- Словарь строится только по train.
- Различные редкие/неизвестные слова отображаются в один маркер.
- Модель оценивает уже изменённую последовательность, поэтому нужен показатель доли замен.
Фрагмент лекции: Неизвестное сочетание нужно отличать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L04-S05
- На каждой позиции берём вероятность эталонной цели.
- Суммируем отрицательные логарифмы и делим на общее число целей T.
- Экспонента среднего даёт perplexity.
- Далее подставим три вероятности уже разобранного пути.
Фрагмент лекции: Чтобы проверить модель,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L04-S05
- Использовать путь, который уже дал 1/16.
- T=3, включая EOS.
- H=ln(16)/3≈0,9242, perplexity≈2,5198.
- Число не является буквальным количеством слов на каждом шаге.
- Затем зафиксировать условия сравнения.
Фрагмент лекции: Вернёмся к вероятностям 0,5;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L04-S05
- Разные токенизаторы или правила UNK меняют сами цели.
- Для корпуса усредняются потери позиций, а не perplexity документов.
- В нашем опыте изменение n меняет историю, но сохраняет набор целей.
- Теперь отделим оценку от свободной генерации.
Фрагмент лекции: Для корпуса суммируем потери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L04-S06
- Сравниваются вероятности двух путей; для каждого взят лучший переход на втором шаге.
- Greedy предпочитает 0,6, но произведение 0,6 × 0,4 меньше 0,4 × 0,9.
- Это учебный пример из лекции.
- Затем сравним реальные пути вероятностной выборки.
Фрагмент лекции: Жадный выбор, greedy,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L04-S06
- Сопоставить правила greedy и sampling, затем прочитать примеры продолжений после «как» из лекции.
- В примере из лекции seed 7 дал три новых слова и EOS; продолжения с seed 42 и 99 приведены в речи с сокращениями.
- Только первый шаг имеет общее распределение: после разных токенов истории расходятся.
- Повтор одного seed воспроизводит путь.
- Далее сменим представление истории на рекуррентное состояние.
Фрагмент лекции: При sampling следующий токен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L04-S07
- Вектор состояния заменяет явный список последних n−1 токенов.
- Одни параметры используются на каждом шаге.
- Стрелки задают последовательную зависимость от состояния и текущего эмбеддинга.
- Проверим её на двух скалярных шагах.
Фрагмент лекции: N-граммная модель хранит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L04-S07
- Параметры заданы вручную, начальное состояние h0=0.
- Для входов 1 и 0 состояния равны примерно 0,7616 и 0,3634; для двух нулей оба равны нулю.
- Это демонстрация обновления, не обучение языковой модели.
- Затем подпишем настоящие входы и цели обучения.
Фрагмент лекции: Возьмём скалярный пример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L04-S08
- Каждый столбец — один шаг.
- По BOS предсказывается «студент», после «книгу» — EOS.
- Две строки таблицы показывают сдвиг входов и целей на один токен.
- На следующем кадре уточним, какой токен подаётся после ошибочного ответа.
Фрагмент лекции: Для «студент читает книгу» запишем два ряда.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L04-S08
- Даже если модель ошибочно предпочла «журнал», при обучении в режиме teacher forcing следующим входом будет правильный токен из эталона.
- При генерации следующим входом станет токен, выбранный самой моделью.
- Градиент обучения проходит по цепочке общих параметров; её устройство можно изменить для более гибкого сохранения информации.
Фрагмент лекции: В режиме teacher forcing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L04-S08
- Упрощённая идея LSTM: часть прежнего состояния сохраняется, новая информация добавляется.
- Управляющие коэффициенты обучаемые и непрерывные.
- Это не полная схема всех ворот и не обещание бесконечной памяти.
- Вернуться к измеримому эксперименту с n-граммами.
Фрагмент лекции: На длинной цепочке градиент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L04-S09
- Три модели обучены на одном словаре при alpha=0,1.
- По validation выбирается n=2, хотя train perplexity у n=3 немного ниже.
- Числа взяты из выполненной работы.
- Для объяснения абсолютного уровня нужна доля UNK.
Фрагмент лекции: В работе возьмём по одному обращению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L04-S09
- Тестовая perplexity биграммы — около 4,9404 на 190 целях.
- UNK заменяет 71,08% обычных слов теста; эта доля считается без EOS.
- Низкое значение perplexity получено для последовательности, в которой многие разные слова заменены одним маркером UNK.
- Прочитаем реальные продолжения.
Фрагмент лекции: Тестовая perplexity биграммы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L04-S09
- Greedy после «как» выдаёт 40 UNK и достигает предела.
- Sampling с seed 7 выдаёт три новых слова, затем EOS на четвёртом предсказании.
- Узнаваемая тема не делает фразу грамматически правильной.
- Завершить вопросом о прямом доступе к разным позициям контекста — это тема следующей лекции об attention.
Фрагмент лекции: Генерация делает ограничение заметным.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2330" y="1488034"/>
            <a:ext cx="777113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 языковая модель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858789" y="2338934"/>
            <a:ext cx="66230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продолжает текст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3201" y="3814070"/>
            <a:ext cx="3757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частот соседних слов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29050" y="4239520"/>
            <a:ext cx="465201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памяти последовательности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1529" y="501663"/>
            <a:ext cx="10031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префикса несколько продолжений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80388" y="1773066"/>
            <a:ext cx="25476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«Студент открыл…»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727651" y="2771826"/>
            <a:ext cx="15093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Префикс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45660" y="2771826"/>
            <a:ext cx="261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Распределение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34274" y="3416224"/>
            <a:ext cx="24879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Варианты следующего 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749836" y="3708324"/>
            <a:ext cx="7981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06372" y="2771826"/>
            <a:ext cx="30200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Выбранный токен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2736723" y="5647404"/>
            <a:ext cx="6864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 добавляется к префиксу; начинается следующий шаг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79760" y="501663"/>
            <a:ext cx="99745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последовательности есть границы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12556" y="2771826"/>
            <a:ext cx="7359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31303" y="3416224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Начало контекста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71694" y="2771826"/>
            <a:ext cx="21551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 текста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58262" y="2771826"/>
            <a:ext cx="715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24087" y="3416224"/>
            <a:ext cx="20415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Предсказываемое 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33967" y="3708324"/>
            <a:ext cx="135699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завершение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3457130" y="5647404"/>
            <a:ext cx="54140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BOS служит входом; EOS входит в цели оценки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26134" y="501663"/>
            <a:ext cx="96513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Вероятность пути — произведение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94762" y="2348382"/>
            <a:ext cx="63379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события на одном выбранном пути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622548" y="3256883"/>
            <a:ext cx="504507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0,5 × 0,25 × 0,5 = 1/16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3469107" y="4461770"/>
            <a:ext cx="53733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Внутри шага — сумма альтернатив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51640" y="5647404"/>
            <a:ext cx="78270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Вдоль выбранной последовательности — произведение переходов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6130" y="501663"/>
            <a:ext cx="7157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Длина истории равна n − 1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9485" y="2408904"/>
            <a:ext cx="10121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45060" y="2408904"/>
            <a:ext cx="2419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517446" y="2408904"/>
            <a:ext cx="18141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истории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483974" y="2813622"/>
            <a:ext cx="16211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Униграмма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34646" y="28136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292145" y="28136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561800" y="3283522"/>
            <a:ext cx="14547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Биграмма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434646" y="32835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292145" y="32835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497773" y="3753422"/>
            <a:ext cx="160591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Триграмма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434646" y="37534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292145" y="37534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3932707" y="5647404"/>
            <a:ext cx="44456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включает и предсказываемый токен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32160" y="501663"/>
            <a:ext cx="90766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предложения дают счётчики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2755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311531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 читает книгу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2755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3408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 читает журнал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755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389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 возвращает книгу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385636" y="5647404"/>
            <a:ext cx="55448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каждому предложению добавляем BOS и EOS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79511" y="6034957"/>
            <a:ext cx="31102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Ручной мини-корпус из трёх предложений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82128" y="501663"/>
            <a:ext cx="95275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Частота становится вероятностью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82852" y="1773066"/>
            <a:ext cx="29413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слова «студент»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442959" y="2408904"/>
            <a:ext cx="17087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Продолжение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44107" y="2408904"/>
            <a:ext cx="965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Частота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24595" y="2408904"/>
            <a:ext cx="151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Вероятность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00541" y="2813622"/>
            <a:ext cx="97853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93395" y="28136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309037" y="2813622"/>
            <a:ext cx="5454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2/3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2440877" y="3283522"/>
            <a:ext cx="16992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возвращает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593395" y="3283522"/>
            <a:ext cx="2622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309037" y="3283522"/>
            <a:ext cx="5454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1/3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495298" y="5047132"/>
            <a:ext cx="3302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P(w|h) = c(h,w) / c(h)</a:t>
            </a:r>
            <a:endParaRPr lang="en-US"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36375" y="501663"/>
            <a:ext cx="8295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Новый переход получает ноль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1117"/>
            <a:ext cx="36137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«студент журнал»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4225004"/>
            <a:ext cx="25882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Наблюдённая частота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654652"/>
            <a:ext cx="48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0" y="4225004"/>
            <a:ext cx="22790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Вероятность текста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0" y="4679677"/>
            <a:ext cx="34804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нулевой переход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00800" y="5092427"/>
            <a:ext cx="36296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обнуляет произведение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85523" y="5647404"/>
            <a:ext cx="73209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Известные слова могут образовать невстречавшееся сочетание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5425" y="501663"/>
            <a:ext cx="93383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Добавка меняет весь знаменатель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7201" y="1773066"/>
            <a:ext cx="21183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Add-alpha · α &gt; 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163094" y="2612231"/>
            <a:ext cx="59658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P(w|h) = (c(h,w) + α) / (c(h) + α|V|)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923483" y="4464622"/>
            <a:ext cx="648271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Добавка относится ко всем |V| продолжениям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324166" y="5647404"/>
            <a:ext cx="36569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Выходной словарь фиксирован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5908" y="501663"/>
            <a:ext cx="8316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Сглаживание на семи токенах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1294" y="1773066"/>
            <a:ext cx="4902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α = 1; |V| = 7; после «студент»: c(h) = 3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442959" y="2408904"/>
            <a:ext cx="17087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Продолжение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80784" y="2408904"/>
            <a:ext cx="841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00845" y="2408904"/>
            <a:ext cx="151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Вероятность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18060" y="2815628"/>
            <a:ext cx="94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75603" y="2815628"/>
            <a:ext cx="145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(2 + 1) / 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15005" y="2815628"/>
            <a:ext cx="486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72779" y="3272828"/>
            <a:ext cx="1633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возвращает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75603" y="3272828"/>
            <a:ext cx="145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 + 1) / 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815005" y="3272828"/>
            <a:ext cx="486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90364" y="3730028"/>
            <a:ext cx="3599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из пяти остальных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75603" y="3730028"/>
            <a:ext cx="1450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 + 1) / 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15005" y="3730028"/>
            <a:ext cx="486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47939" y="5647404"/>
            <a:ext cx="2397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0,3 + 0,2 + 5 × 0,1 = 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878765" y="6034957"/>
            <a:ext cx="4540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Словарь: студент, читает, возвращает, книгу, журнал, EOS, UNK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6363" y="501663"/>
            <a:ext cx="84461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UNK объединяет разные слова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4515" y="1773066"/>
            <a:ext cx="51771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Словарь строится на train · min_count = 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44974" y="2771826"/>
            <a:ext cx="22802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Редкие слова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63281" y="3229026"/>
            <a:ext cx="16363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751830" y="2771826"/>
            <a:ext cx="7899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552625" y="2771826"/>
            <a:ext cx="25596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Тот же словарь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52078" y="3416224"/>
            <a:ext cx="21323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validation и test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3166339" y="5647404"/>
            <a:ext cx="59759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заменённые слова становятся одной целью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62721" y="501663"/>
            <a:ext cx="76104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Потеря на целевых токенах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36568" y="2348382"/>
            <a:ext cx="46361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Потеря одной позиции: −ln p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203702" y="3265437"/>
            <a:ext cx="58985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 = −(1/T) Σ ln P(цель | история)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85919" y="4462932"/>
            <a:ext cx="29387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Perplexity = exp(H)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091584" y="5647404"/>
            <a:ext cx="41167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 — общее число целевых позиций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1519" y="501663"/>
            <a:ext cx="76104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Perplexity на трёх событиях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64222" y="1773066"/>
            <a:ext cx="35928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 же события: 0,5; 0,25; 0,5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319261" y="2518023"/>
            <a:ext cx="22263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Средняя потеря 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63306" y="2994800"/>
            <a:ext cx="276923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0,9242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2881782" y="4180554"/>
            <a:ext cx="1093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ln(16) / 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50365" y="2518023"/>
            <a:ext cx="12369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Perplexity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5426" y="2994800"/>
            <a:ext cx="25374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2,5198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8344471" y="4180554"/>
            <a:ext cx="1039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16^(1/3)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383553" y="5647404"/>
            <a:ext cx="5565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цели включают EOS; BOS не является целью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03100" y="501663"/>
            <a:ext cx="73075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Общие условия сравнения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257111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Тексты и токены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618871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Одинаковые события для обеих моделей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34048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Словарь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42811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Одинаковые замены на UNK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24980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Границы и вес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4343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Одинаковый учёт EOS и числа целей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257366" y="5647404"/>
            <a:ext cx="5786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perplexity сравнимы при общей постановке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4459" y="501663"/>
            <a:ext cx="81076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Greedy: локальный максимум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2453" y="1773066"/>
            <a:ext cx="2609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шага генерации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224011" y="2397373"/>
            <a:ext cx="23615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 выбирает 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3398" y="2878684"/>
            <a:ext cx="161417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0,24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2734323" y="3960120"/>
            <a:ext cx="13392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0,6 × 0,4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92821" y="2397373"/>
            <a:ext cx="15925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Путь через 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64437" y="2878684"/>
            <a:ext cx="166433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0,36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220710" y="3960120"/>
            <a:ext cx="13392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0,4 × 0,9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69338" y="5647404"/>
            <a:ext cx="79730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Локальный максимум не гарантирует самый вероятный полный путь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076567" y="6034957"/>
            <a:ext cx="4317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Остальные продолжения A: 0,35 и 0,25; остаток после B: 0,1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9186" y="501663"/>
            <a:ext cx="82480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Sampling создаёт разные пути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41885" y="2397373"/>
            <a:ext cx="9264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42422" y="2919882"/>
            <a:ext cx="39293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Самый вероятный токен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39380" y="3554882"/>
            <a:ext cx="41503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определённый путь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319707" y="2397373"/>
            <a:ext cx="11398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58648" y="2919882"/>
            <a:ext cx="38620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 по вероятностям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986207" y="3554882"/>
            <a:ext cx="380936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Возможны разные пути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2180279" y="5647404"/>
            <a:ext cx="79527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выбранные токены могут менять следующие распределения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19248" y="501663"/>
            <a:ext cx="72618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RNN обновляет состояние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58972" y="1773066"/>
            <a:ext cx="53873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Одни и те же параметры на всех позициях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64017" y="2771826"/>
            <a:ext cx="1233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h_(t−1)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5955" y="3416224"/>
            <a:ext cx="2133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Прежнее состояние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84153" y="2771826"/>
            <a:ext cx="212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Обновление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12772" y="3416224"/>
            <a:ext cx="208216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Учитывает вход e_t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503283" y="2771826"/>
            <a:ext cx="619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h_t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92413" y="3416224"/>
            <a:ext cx="1841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Новое состояние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686717" y="5647404"/>
            <a:ext cx="6927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Состояние передаёт информацию о прочитанном префиксе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6306" y="501663"/>
            <a:ext cx="93865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Нулевой вход не стирает прошлое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89128" y="2348382"/>
            <a:ext cx="5318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h_t = tanh(0,5h_(t−1) + e_t); h₀ = 0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49338" y="3260579"/>
            <a:ext cx="399351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e₁ = 1 → h₁ ≈ 0,7616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05980" y="4454379"/>
            <a:ext cx="40798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e₂ = 0 → h₂ ≈ 0,3634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222468" y="5647404"/>
            <a:ext cx="78746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Параметры заданы вручную; второй вход нулевой, состояние — нет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65920" y="501663"/>
            <a:ext cx="64350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Входы и цели сдвинуты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5485" y="2408904"/>
            <a:ext cx="107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87576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7126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667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1622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9903" y="2814466"/>
            <a:ext cx="7042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700031" y="2814466"/>
            <a:ext cx="58801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572030" y="2814466"/>
            <a:ext cx="10483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731443" y="2814466"/>
            <a:ext cx="908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888284" y="2814466"/>
            <a:ext cx="784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книгу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599349" y="3252616"/>
            <a:ext cx="7200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476530" y="3252616"/>
            <a:ext cx="10483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635930" y="3252616"/>
            <a:ext cx="908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792784" y="3252616"/>
            <a:ext cx="784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книгу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996932" y="3252616"/>
            <a:ext cx="5721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3810298" y="5647404"/>
            <a:ext cx="46932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Выход после w_t предсказывает w_(t+1)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31912" y="501663"/>
            <a:ext cx="89001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Откуда берётся следующий вход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34336" y="1773066"/>
            <a:ext cx="74479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предпочла «журнал», правильная цель — «книгу»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487727" y="2397373"/>
            <a:ext cx="18643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Teacher forcing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30902" y="2915025"/>
            <a:ext cx="3171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вход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62688" y="3607175"/>
            <a:ext cx="10814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книгу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543165" y="2397373"/>
            <a:ext cx="27025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Свободная генерация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7296" y="2915025"/>
            <a:ext cx="3171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вход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170037" y="3607175"/>
            <a:ext cx="14395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3040799" y="5647404"/>
            <a:ext cx="62242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генерации меняет условия следующих шагов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72570" y="501663"/>
            <a:ext cx="83712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LSTM управляет сохранением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18897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Сохранение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5049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Часть прежнего состояния ячейки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9418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Добавление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29387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Новая информация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12439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Выдача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1936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Информация для текущего выхода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287706" y="5647404"/>
            <a:ext cx="57264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Коэффициенты обучаются и обычно непрерывны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06257" y="6034957"/>
            <a:ext cx="2981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Концептуальные роли механизмов LSTM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43646" y="501663"/>
            <a:ext cx="86023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Валидация выбирает биграмму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4209" y="1773066"/>
            <a:ext cx="62249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Общий словарь: 47 выходных элементов · α = 0,1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009908" y="2408904"/>
            <a:ext cx="1087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Порядок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30933" y="2408904"/>
            <a:ext cx="16497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 PPL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17292" y="2408904"/>
            <a:ext cx="8470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87035" y="2813622"/>
            <a:ext cx="730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= 1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5654015" y="2813622"/>
            <a:ext cx="98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6,6388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187035" y="3283522"/>
            <a:ext cx="730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= 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654015" y="3283522"/>
            <a:ext cx="98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4,9800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013381" y="3283522"/>
            <a:ext cx="14547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Биграмма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187035" y="3753422"/>
            <a:ext cx="7308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= 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54015" y="3753422"/>
            <a:ext cx="98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6,0382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3767976" y="5647404"/>
            <a:ext cx="47796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Выбор по validation, затем оценка на test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077835" y="6034957"/>
            <a:ext cx="33166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4 · 72 / 24 / 24 исходных текста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4606" y="501663"/>
            <a:ext cx="83204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Perplexity и покрытие словаря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53913" y="2518023"/>
            <a:ext cx="17799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perplexity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61800" y="2997822"/>
            <a:ext cx="255651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4,9404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473789" y="4117054"/>
            <a:ext cx="1920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190 целей с EOS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1638" y="2518023"/>
            <a:ext cx="21901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 test → UNK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31240" y="2997822"/>
            <a:ext cx="24955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71,08%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8062659" y="4117054"/>
            <a:ext cx="16141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Доля без EOS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14847" y="5647404"/>
            <a:ext cx="68891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оценивает последовательность после замены слов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69788" y="501663"/>
            <a:ext cx="69989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Прочитаем продолжения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408" y="2397373"/>
            <a:ext cx="24237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 после «как»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95984" y="2920727"/>
            <a:ext cx="38188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&lt;UNK&gt; повторился 40 раз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732731" y="3523977"/>
            <a:ext cx="3359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Остановка по пределу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851331" y="2397373"/>
            <a:ext cx="20745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Sampling · seed 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61581" y="2920727"/>
            <a:ext cx="36709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 подать социальной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971917" y="3333477"/>
            <a:ext cx="1835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стипендии»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553833" y="3936727"/>
            <a:ext cx="2682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EOS на четвёртом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309358" y="4349477"/>
            <a:ext cx="317309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новом предсказании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346437" y="5647404"/>
            <a:ext cx="5631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Чтение результата дополняет числовую метрику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57375" y="6034957"/>
            <a:ext cx="2940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Буквальные результаты лабораторной 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языковая модель продолжает текст</dc:title>
  <dc:subject>Как языковая модель продолжает текст</dc:subject>
  <dc:creator>Курс СИИ · NLP</dc:creator>
  <cp:lastModifiedBy>Курс СИИ · NLP</cp:lastModifiedBy>
  <cp:revision>1</cp:revision>
  <dcterms:created xsi:type="dcterms:W3CDTF">2026-09-21T14:43:36Z</dcterms:created>
  <dcterms:modified xsi:type="dcterms:W3CDTF">2026-09-21T14:43:36Z</dcterms:modified>
</cp:coreProperties>
</file>